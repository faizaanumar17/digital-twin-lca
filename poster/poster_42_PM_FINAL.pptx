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2990088" cy="3008376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47472"/>
            <a:ext cx="2990088" cy="3008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42</a:t>
            </a:r>
            <a:endParaRPr lang="en-US" sz="60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CCE5FF"/>
                </a:solidFill>
              </a:rPr>
              <a:t>PM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538728" y="347472"/>
            <a:ext cx="17501616" cy="3008376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38728" y="347472"/>
            <a:ext cx="91440" cy="3008376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39896" y="438912"/>
            <a:ext cx="1724558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5490"/>
                </a:solidFill>
              </a:rPr>
              <a:t>Digital-Twin-Enabled Life-Cycle Assessment of Sustainable Pavement Materials for Nigerian Roads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739896" y="2496312"/>
            <a:ext cx="172455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C1C1C"/>
                </a:solidFill>
              </a:rPr>
              <a:t>Faizaan Umar  (34411364)   ·   fu1e22@soton.ac.uk   ·   FEEG3003 Individual Project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55555"/>
                </a:solidFill>
              </a:rPr>
              <a:t>Supervised by Dr Paul Kemp   ·   Faculty of Engineering &amp; Physical Sciences, University of Southampton   ·   5 June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3739896"/>
            <a:ext cx="20692872" cy="64008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3867912"/>
            <a:ext cx="20692872" cy="594360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3867912"/>
            <a:ext cx="16459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67912"/>
            <a:ext cx="20345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 — The Laterite Inversion: </a:t>
            </a:r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CE5FF"/>
                </a:solidFill>
              </a:rPr>
              <a:t>best material at asset scale (1 km) becomes worst at network scale (100 km) — a scale-dependent trade-off invisible to single-scale LCA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" y="4526280"/>
            <a:ext cx="20692872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4526280"/>
            <a:ext cx="20363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490"/>
                </a:solidFill>
              </a:rPr>
              <a:t>20-year horizon</a:t>
            </a:r>
            <a:pPr algn="ctr" indent="0" marL="0">
              <a:buNone/>
            </a:pPr>
            <a:r>
              <a:rPr lang="en-US" sz="1700" dirty="0">
                <a:solidFill>
                  <a:srgbClr val="555555"/>
                </a:solidFill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005490"/>
                </a:solidFill>
              </a:rPr>
              <a:t>7 policy scenarios</a:t>
            </a:r>
            <a:pPr algn="ctr" indent="0" marL="0">
              <a:buNone/>
            </a:pPr>
            <a:r>
              <a:rPr lang="en-US" sz="1700" dirty="0">
                <a:solidFill>
                  <a:srgbClr val="555555"/>
                </a:solidFill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005490"/>
                </a:solidFill>
              </a:rPr>
              <a:t>100 km network</a:t>
            </a:r>
            <a:pPr algn="ctr" indent="0" marL="0">
              <a:buNone/>
            </a:pPr>
            <a:r>
              <a:rPr lang="en-US" sz="1700" dirty="0">
                <a:solidFill>
                  <a:srgbClr val="555555"/>
                </a:solidFill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005490"/>
                </a:solidFill>
              </a:rPr>
              <a:t>2,000 Monte Carlo runs</a:t>
            </a:r>
            <a:pPr algn="ctr" indent="0" marL="0">
              <a:buNone/>
            </a:pPr>
            <a:r>
              <a:rPr lang="en-US" sz="1700" dirty="0">
                <a:solidFill>
                  <a:srgbClr val="555555"/>
                </a:solidFill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005490"/>
                </a:solidFill>
              </a:rPr>
              <a:t>9,216 Sobol samples</a:t>
            </a:r>
            <a:pPr algn="ctr" indent="0" marL="0">
              <a:buNone/>
            </a:pPr>
            <a:r>
              <a:rPr lang="en-US" sz="1700" dirty="0">
                <a:solidFill>
                  <a:srgbClr val="555555"/>
                </a:solidFill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005490"/>
                </a:solidFill>
              </a:rPr>
              <a:t>10,000 MCDA draws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47472" y="5056632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5056632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   Introduction &amp; Background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47472" y="5477256"/>
            <a:ext cx="674827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C1C1C"/>
                </a:solidFill>
              </a:rPr>
              <a:t>Nigeria relies on roads for ~80% of freight movement, yet over 60% of the paved network is in poor condition. Routine over-axle loading — reaching 200% of legal limits — accelerates deterioration far beyond temperate benchmarks [1].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C1C1C"/>
                </a:solidFill>
              </a:rPr>
              <a:t>Three materials compete: conventional asphalt, sealed laterite (locally available iron-rich gravel), and plastic-modified asphalt (PMA). No prior study couples asset-level LCA to network-level system dynamics — leaving scale-dependent trade-offs hidden from policy-makers.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8476488"/>
            <a:ext cx="6126480" cy="420624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47088" y="8476488"/>
            <a:ext cx="2468880" cy="411480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8476488"/>
            <a:ext cx="2468880" cy="411480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84764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Asset scale (1 km)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15968" y="84764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scale (100 km)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8887968"/>
            <a:ext cx="1188720" cy="1897380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10785348"/>
            <a:ext cx="1188720" cy="1897380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8887968"/>
            <a:ext cx="1097280" cy="1897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5490"/>
                </a:solidFill>
              </a:rPr>
              <a:t>Multi-metric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(cost + CO₂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+ condition)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10785348"/>
            <a:ext cx="1097280" cy="1897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C1C"/>
                </a:solidFill>
              </a:rPr>
              <a:t>Single-metric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(condition only)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847088" y="8887968"/>
            <a:ext cx="2468880" cy="18973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84248" y="92080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Egilmez &amp; Tatari (2012)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15968" y="8887968"/>
            <a:ext cx="2468880" cy="1897380"/>
          </a:xfrm>
          <a:prstGeom prst="rect">
            <a:avLst/>
          </a:prstGeom>
          <a:solidFill>
            <a:srgbClr val="FFFDE7"/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53128" y="90251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Ruiz &amp; Guevara (2020)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53128" y="93451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Shiboub &amp; Assaf (2022)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98848" y="98023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71C1C"/>
                </a:solidFill>
              </a:rPr>
              <a:t>★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910328" y="98480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71C1C"/>
                </a:solidFill>
              </a:rPr>
              <a:t>THIS STUDY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71C1C"/>
                </a:solidFill>
              </a:rPr>
              <a:t>Digital-twin coupling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847088" y="10785348"/>
            <a:ext cx="2468880" cy="18973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84248" y="110596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Talaghat et al. (2024)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15968" y="10785348"/>
            <a:ext cx="2468880" cy="18973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3128" y="110596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Linard (2009, 2010)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" y="12755880"/>
            <a:ext cx="6748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Fig. 1: </a:t>
            </a:r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Research positioning. The top-right cell (network-scale, multi-metric) was previously unoccupied. This study fills it.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" y="13194792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13194792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   Research Questions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347472" y="13615416"/>
            <a:ext cx="6748272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13615416"/>
            <a:ext cx="6611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5490"/>
                </a:solidFill>
              </a:rPr>
              <a:t>RQ1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C"/>
                </a:solidFill>
              </a:rPr>
              <a:t>What are the 20-year life-cycle cost, CO₂ and condition trajectories for each material at asset level?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47472" y="14182344"/>
            <a:ext cx="6748272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14182344"/>
            <a:ext cx="6611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5490"/>
                </a:solidFill>
              </a:rPr>
              <a:t>RQ2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C"/>
                </a:solidFill>
              </a:rPr>
              <a:t>How does one-way coupling of asset outputs into a system-dynamics model enable network-level interpretation?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47472" y="14749272"/>
            <a:ext cx="6748272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14749272"/>
            <a:ext cx="66111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5490"/>
                </a:solidFill>
              </a:rPr>
              <a:t>RQ3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C1C1C"/>
                </a:solidFill>
              </a:rPr>
              <a:t>How do budget, adoption mix, and axle-load enforcement affect network backlog, cost, and emissions?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47472" y="15480792"/>
            <a:ext cx="6748272" cy="42062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15480792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   Answers to Research Questions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347472" y="15901416"/>
            <a:ext cx="6748272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15901416"/>
            <a:ext cx="109728" cy="62179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15901416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5E20"/>
                </a:solidFill>
              </a:rPr>
              <a:t>A1 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Laterite: lowest 20-yr NPV (£79,688) and CO₂ (236.7 t). PMA: longest service life (Yr 12 first overlay). Asset-level cost and carbon rankings are robust across all 2,000 Monte Carlo draws.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47472" y="16559784"/>
            <a:ext cx="6748272" cy="621792"/>
          </a:xfrm>
          <a:prstGeom prst="rect">
            <a:avLst/>
          </a:prstGeom>
          <a:solidFill>
            <a:srgbClr val="F1FAF5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" y="16559784"/>
            <a:ext cx="109728" cy="62179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16559784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5E20"/>
                </a:solidFill>
              </a:rPr>
              <a:t>A2 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Coupling reveals The Laterite Inversion: asset-optimal material produces the worst network backlog. This scale-dependent trade-off cannot be detected by single-scale asset LCA.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47472" y="17218152"/>
            <a:ext cx="6748272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17218152"/>
            <a:ext cx="109728" cy="62179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17218152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5E20"/>
                </a:solidFill>
              </a:rPr>
              <a:t>A3  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Budget is non-binding above £346k/yr (S0 = S1 = S2 identically). WIM axle-load enforcement is the only effective lever, reducing Yr-20 backlog from 17.05 → 10.68 km (−37%).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47472" y="18077688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18077688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   Methodology Pipeline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347472" y="18498312"/>
            <a:ext cx="6748272" cy="292608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0352" y="18608040"/>
            <a:ext cx="6382512" cy="365760"/>
          </a:xfrm>
          <a:prstGeom prst="rect">
            <a:avLst/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" y="18608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033272" y="186080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CALIBRATE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2542032" y="18608040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</a:rPr>
              <a:t>PIARC tropical curves [1] + literature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30352" y="19028664"/>
            <a:ext cx="6382512" cy="365760"/>
          </a:xfrm>
          <a:prstGeom prst="rect">
            <a:avLst/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" y="1902866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033272" y="19028664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ASSET MC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2542032" y="19028664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</a:rPr>
              <a:t>MATLAB  ·  3 materials  ·  N = 2,000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30352" y="19449288"/>
            <a:ext cx="6382512" cy="365760"/>
          </a:xfrm>
          <a:prstGeom prst="rect">
            <a:avLst/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" y="194492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033272" y="19449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 OUTPUTS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2542032" y="19449288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</a:rPr>
              <a:t>TTL  ·  £/km  ·  t CO₂/km  →  feed network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30352" y="19869912"/>
            <a:ext cx="6382512" cy="365760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" y="198699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033272" y="19869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NETWORK SD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2542032" y="19869912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</a:rPr>
              <a:t>Vensim  ·  100 km  ·  7 scenarios  ·  20 yr [3]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30352" y="20290536"/>
            <a:ext cx="6382512" cy="365760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6072" y="202905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033272" y="20290536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SOBOL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2542032" y="20290536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</a:rPr>
              <a:t>Variance decomp.  ·  N = 9,216 (Saltelli)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30352" y="20711160"/>
            <a:ext cx="6382512" cy="365760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6072" y="20711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033272" y="20711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MCDA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2542032" y="20711160"/>
            <a:ext cx="4325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0F0"/>
                </a:solidFill>
              </a:rPr>
              <a:t>10,000 Dirichlet weight draws  →  rank robustness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30352" y="19787616"/>
            <a:ext cx="6382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asset  →  network coupling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47472" y="21652992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7472" y="21652992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   Network Scenario Design  (7 scenarios)</a:t>
            </a:r>
            <a:endParaRPr lang="en-US" sz="2100" dirty="0"/>
          </a:p>
        </p:txBody>
      </p:sp>
      <p:sp>
        <p:nvSpPr>
          <p:cNvPr id="87" name="Shape 85"/>
          <p:cNvSpPr/>
          <p:nvPr/>
        </p:nvSpPr>
        <p:spPr>
          <a:xfrm>
            <a:off x="347472" y="22073616"/>
            <a:ext cx="6748272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1480" y="22073616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0"/>
                </a:solidFill>
              </a:rPr>
              <a:t>S0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68680" y="2207361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Baseline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2560320" y="22073616"/>
            <a:ext cx="4489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100% asphalt; calibrated budget; overload multiplier ODM = 1.0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47472" y="22430232"/>
            <a:ext cx="6748272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1480" y="2243023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0"/>
                </a:solidFill>
              </a:rPr>
              <a:t>S1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68680" y="2243023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Low-budget ×0.7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2560320" y="22430232"/>
            <a:ext cx="4489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70% of baseline annual road agency budget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347472" y="22786848"/>
            <a:ext cx="6748272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1480" y="2278684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0"/>
                </a:solidFill>
              </a:rPr>
              <a:t>S2</a:t>
            </a:r>
            <a:endParaRPr lang="en-US" sz="1400" dirty="0"/>
          </a:p>
        </p:txBody>
      </p:sp>
      <p:sp>
        <p:nvSpPr>
          <p:cNvPr id="97" name="Text 95"/>
          <p:cNvSpPr/>
          <p:nvPr/>
        </p:nvSpPr>
        <p:spPr>
          <a:xfrm>
            <a:off x="868680" y="2278684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High-budget ×1.3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2560320" y="22786848"/>
            <a:ext cx="4489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130% of baseline annual road agency budget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347472" y="23143464"/>
            <a:ext cx="6748272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" y="2314346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0"/>
                </a:solidFill>
              </a:rPr>
              <a:t>S3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868680" y="2314346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Plastic-push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2560320" y="23143464"/>
            <a:ext cx="4489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40% PMA / 40% asphalt / 20% laterite rehabilitation mix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347472" y="23500080"/>
            <a:ext cx="6748272" cy="32918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1480" y="2350008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0"/>
                </a:solidFill>
              </a:rPr>
              <a:t>S4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868680" y="235000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Laterite-heavy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2560320" y="23500080"/>
            <a:ext cx="4489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50% laterite / 30% asphalt / 20% PMA rehabilitation mix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347472" y="23856696"/>
            <a:ext cx="6748272" cy="329184"/>
          </a:xfrm>
          <a:prstGeom prst="rect">
            <a:avLst/>
          </a:prstGeom>
          <a:solidFill>
            <a:srgbClr val="EFF6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1480" y="23856696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490"/>
                </a:solidFill>
              </a:rPr>
              <a:t>S5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868680" y="2385669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Strong enforcement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2560320" y="23856696"/>
            <a:ext cx="4489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WIM enforcement reduces ODM: 1.0 → 0.6 (−40%)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347472" y="24213312"/>
            <a:ext cx="6748272" cy="32918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11480" y="2421331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</a:rPr>
              <a:t>S6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868680" y="2421331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Combined policy ★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2560320" y="24213312"/>
            <a:ext cx="44897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S5 enforcement + S3 plastic mix — best on all 4 metrics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347472" y="24771096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47472" y="24771096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References</a:t>
            </a:r>
            <a:endParaRPr lang="en-US" sz="2100" dirty="0"/>
          </a:p>
        </p:txBody>
      </p:sp>
      <p:sp>
        <p:nvSpPr>
          <p:cNvPr id="117" name="Text 115"/>
          <p:cNvSpPr/>
          <p:nvPr/>
        </p:nvSpPr>
        <p:spPr>
          <a:xfrm>
            <a:off x="347472" y="25191720"/>
            <a:ext cx="67482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555555"/>
                </a:solidFill>
              </a:rPr>
              <a:t>[1] </a:t>
            </a:r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PIARC (2022). Pavement Management Systems. World Road Association.  </a:t>
            </a:r>
            <a:pPr algn="l" indent="0" marL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555555"/>
                </a:solidFill>
              </a:rPr>
              <a:t>[2] </a:t>
            </a:r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Torres Martínez et al. (2018). WIM cost-benefit analysis. Road Mater. Pavement Des.  </a:t>
            </a:r>
            <a:pPr algn="l" indent="0" marL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555555"/>
                </a:solidFill>
              </a:rPr>
              <a:t>[3] </a:t>
            </a:r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Ruiz &amp; Guevara (2020a,b). SD for road networks. Transp. Res. D.  </a:t>
            </a:r>
            <a:pPr algn="l" indent="0" marL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555555"/>
                </a:solidFill>
              </a:rPr>
              <a:t>[4] </a:t>
            </a:r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Talaghat et al. (2024). Pavement LCA review. J. Clean. Prod.  </a:t>
            </a:r>
            <a:pPr algn="l" indent="0" marL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555555"/>
                </a:solidFill>
              </a:rPr>
              <a:t>[5] </a:t>
            </a:r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Shiboub &amp; Assaf (2022). Network LCCA. Int. J. Pave. Res. Technol.  </a:t>
            </a:r>
            <a:pPr algn="l" indent="0" marL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555555"/>
                </a:solidFill>
              </a:rPr>
              <a:t>[6] </a:t>
            </a:r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Linard (2009, 2010). SD in transport infrastructure. Syst. Dyn. Rev.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347472" y="26727912"/>
            <a:ext cx="6748272" cy="1920240"/>
          </a:xfrm>
          <a:prstGeom prst="rect">
            <a:avLst/>
          </a:prstGeom>
          <a:solidFill>
            <a:srgbClr val="F8FB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19" name="Image 0" descr="/home/claude/qr_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5808" y="26819352"/>
            <a:ext cx="1371600" cy="1371600"/>
          </a:xfrm>
          <a:prstGeom prst="rect">
            <a:avLst/>
          </a:prstGeom>
        </p:spPr>
      </p:pic>
      <p:sp>
        <p:nvSpPr>
          <p:cNvPr id="120" name="Text 117"/>
          <p:cNvSpPr/>
          <p:nvPr/>
        </p:nvSpPr>
        <p:spPr>
          <a:xfrm>
            <a:off x="438912" y="28264104"/>
            <a:ext cx="6565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55555"/>
                </a:solidFill>
              </a:rPr>
              <a:t>Scan to access code, Vensim model, data &amp; full dissertation on GitHub</a:t>
            </a:r>
            <a:endParaRPr lang="en-US" sz="1100" dirty="0"/>
          </a:p>
        </p:txBody>
      </p:sp>
      <p:sp>
        <p:nvSpPr>
          <p:cNvPr id="121" name="Shape 118"/>
          <p:cNvSpPr/>
          <p:nvPr/>
        </p:nvSpPr>
        <p:spPr>
          <a:xfrm>
            <a:off x="7296912" y="5056632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7296912" y="5056632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5   Asset-Level Results  (1 km, 20-year baseline)</a:t>
            </a:r>
            <a:endParaRPr lang="en-US" sz="2100" dirty="0"/>
          </a:p>
        </p:txBody>
      </p:sp>
      <p:sp>
        <p:nvSpPr>
          <p:cNvPr id="123" name="Shape 120"/>
          <p:cNvSpPr/>
          <p:nvPr/>
        </p:nvSpPr>
        <p:spPr>
          <a:xfrm>
            <a:off x="7635240" y="5477256"/>
            <a:ext cx="1993392" cy="384048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7635240" y="547725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Material</a:t>
            </a:r>
            <a:endParaRPr lang="en-US" sz="1300" dirty="0"/>
          </a:p>
        </p:txBody>
      </p:sp>
      <p:sp>
        <p:nvSpPr>
          <p:cNvPr id="125" name="Shape 122"/>
          <p:cNvSpPr/>
          <p:nvPr/>
        </p:nvSpPr>
        <p:spPr>
          <a:xfrm>
            <a:off x="9628632" y="5477256"/>
            <a:ext cx="1024128" cy="384048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9628632" y="547725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NPV Cost</a:t>
            </a:r>
            <a:endParaRPr lang="en-US" sz="1300" dirty="0"/>
          </a:p>
        </p:txBody>
      </p:sp>
      <p:sp>
        <p:nvSpPr>
          <p:cNvPr id="127" name="Shape 124"/>
          <p:cNvSpPr/>
          <p:nvPr/>
        </p:nvSpPr>
        <p:spPr>
          <a:xfrm>
            <a:off x="10652760" y="5477256"/>
            <a:ext cx="1024128" cy="384048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10652760" y="547725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Const. CO₂</a:t>
            </a:r>
            <a:endParaRPr lang="en-US" sz="1300" dirty="0"/>
          </a:p>
        </p:txBody>
      </p:sp>
      <p:sp>
        <p:nvSpPr>
          <p:cNvPr id="129" name="Shape 126"/>
          <p:cNvSpPr/>
          <p:nvPr/>
        </p:nvSpPr>
        <p:spPr>
          <a:xfrm>
            <a:off x="11676888" y="5477256"/>
            <a:ext cx="1024128" cy="384048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11676888" y="547725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W-L CO₂</a:t>
            </a:r>
            <a:endParaRPr lang="en-US" sz="1300" dirty="0"/>
          </a:p>
        </p:txBody>
      </p:sp>
      <p:sp>
        <p:nvSpPr>
          <p:cNvPr id="131" name="Shape 128"/>
          <p:cNvSpPr/>
          <p:nvPr/>
        </p:nvSpPr>
        <p:spPr>
          <a:xfrm>
            <a:off x="12701016" y="5477256"/>
            <a:ext cx="1005840" cy="384048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12701016" y="547725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1st Overlay</a:t>
            </a:r>
            <a:endParaRPr lang="en-US" sz="1300" dirty="0"/>
          </a:p>
        </p:txBody>
      </p:sp>
      <p:sp>
        <p:nvSpPr>
          <p:cNvPr id="133" name="Shape 130"/>
          <p:cNvSpPr/>
          <p:nvPr/>
        </p:nvSpPr>
        <p:spPr>
          <a:xfrm>
            <a:off x="7635240" y="5861304"/>
            <a:ext cx="1993392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7635240" y="5861304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Conventional asphalt</a:t>
            </a:r>
            <a:endParaRPr lang="en-US" sz="1300" dirty="0"/>
          </a:p>
        </p:txBody>
      </p:sp>
      <p:sp>
        <p:nvSpPr>
          <p:cNvPr id="135" name="Shape 132"/>
          <p:cNvSpPr/>
          <p:nvPr/>
        </p:nvSpPr>
        <p:spPr>
          <a:xfrm>
            <a:off x="9628632" y="5861304"/>
            <a:ext cx="1024128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9628632" y="5861304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£99,872</a:t>
            </a:r>
            <a:endParaRPr lang="en-US" sz="1300" dirty="0"/>
          </a:p>
        </p:txBody>
      </p:sp>
      <p:sp>
        <p:nvSpPr>
          <p:cNvPr id="137" name="Shape 134"/>
          <p:cNvSpPr/>
          <p:nvPr/>
        </p:nvSpPr>
        <p:spPr>
          <a:xfrm>
            <a:off x="10652760" y="5861304"/>
            <a:ext cx="1024128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10652760" y="5861304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195.9 t</a:t>
            </a:r>
            <a:endParaRPr lang="en-US" sz="1300" dirty="0"/>
          </a:p>
        </p:txBody>
      </p:sp>
      <p:sp>
        <p:nvSpPr>
          <p:cNvPr id="139" name="Shape 136"/>
          <p:cNvSpPr/>
          <p:nvPr/>
        </p:nvSpPr>
        <p:spPr>
          <a:xfrm>
            <a:off x="11676888" y="5861304"/>
            <a:ext cx="1024128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11676888" y="5861304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335.4 t</a:t>
            </a:r>
            <a:endParaRPr lang="en-US" sz="1300" dirty="0"/>
          </a:p>
        </p:txBody>
      </p:sp>
      <p:sp>
        <p:nvSpPr>
          <p:cNvPr id="141" name="Shape 138"/>
          <p:cNvSpPr/>
          <p:nvPr/>
        </p:nvSpPr>
        <p:spPr>
          <a:xfrm>
            <a:off x="12701016" y="5861304"/>
            <a:ext cx="100584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2" name="Text 139"/>
          <p:cNvSpPr/>
          <p:nvPr/>
        </p:nvSpPr>
        <p:spPr>
          <a:xfrm>
            <a:off x="12701016" y="586130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Year 10</a:t>
            </a:r>
            <a:endParaRPr lang="en-US" sz="1300" dirty="0"/>
          </a:p>
        </p:txBody>
      </p:sp>
      <p:sp>
        <p:nvSpPr>
          <p:cNvPr id="143" name="Shape 140"/>
          <p:cNvSpPr/>
          <p:nvPr/>
        </p:nvSpPr>
        <p:spPr>
          <a:xfrm>
            <a:off x="7635240" y="6263640"/>
            <a:ext cx="1993392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7635240" y="6263640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Sealed laterite</a:t>
            </a:r>
            <a:endParaRPr lang="en-US" sz="1300" dirty="0"/>
          </a:p>
        </p:txBody>
      </p:sp>
      <p:sp>
        <p:nvSpPr>
          <p:cNvPr id="145" name="Shape 142"/>
          <p:cNvSpPr/>
          <p:nvPr/>
        </p:nvSpPr>
        <p:spPr>
          <a:xfrm>
            <a:off x="9628632" y="6263640"/>
            <a:ext cx="1024128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9628632" y="6263640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£79,688 ✓</a:t>
            </a:r>
            <a:endParaRPr lang="en-US" sz="1300" dirty="0"/>
          </a:p>
        </p:txBody>
      </p:sp>
      <p:sp>
        <p:nvSpPr>
          <p:cNvPr id="147" name="Shape 144"/>
          <p:cNvSpPr/>
          <p:nvPr/>
        </p:nvSpPr>
        <p:spPr>
          <a:xfrm>
            <a:off x="10652760" y="6263640"/>
            <a:ext cx="1024128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10652760" y="6263640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44.7 t ✓</a:t>
            </a:r>
            <a:endParaRPr lang="en-US" sz="1300" dirty="0"/>
          </a:p>
        </p:txBody>
      </p:sp>
      <p:sp>
        <p:nvSpPr>
          <p:cNvPr id="149" name="Shape 146"/>
          <p:cNvSpPr/>
          <p:nvPr/>
        </p:nvSpPr>
        <p:spPr>
          <a:xfrm>
            <a:off x="11676888" y="6263640"/>
            <a:ext cx="1024128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11676888" y="6263640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236.7 t ✓</a:t>
            </a:r>
            <a:endParaRPr lang="en-US" sz="1300" dirty="0"/>
          </a:p>
        </p:txBody>
      </p:sp>
      <p:sp>
        <p:nvSpPr>
          <p:cNvPr id="151" name="Shape 148"/>
          <p:cNvSpPr/>
          <p:nvPr/>
        </p:nvSpPr>
        <p:spPr>
          <a:xfrm>
            <a:off x="12701016" y="6263640"/>
            <a:ext cx="1005840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12701016" y="626364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Year 8</a:t>
            </a:r>
            <a:endParaRPr lang="en-US" sz="1300" dirty="0"/>
          </a:p>
        </p:txBody>
      </p:sp>
      <p:sp>
        <p:nvSpPr>
          <p:cNvPr id="153" name="Shape 150"/>
          <p:cNvSpPr/>
          <p:nvPr/>
        </p:nvSpPr>
        <p:spPr>
          <a:xfrm>
            <a:off x="7635240" y="6665976"/>
            <a:ext cx="1993392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7635240" y="6665976"/>
            <a:ext cx="1993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Plastic-modified (PMA)</a:t>
            </a:r>
            <a:endParaRPr lang="en-US" sz="1300" dirty="0"/>
          </a:p>
        </p:txBody>
      </p:sp>
      <p:sp>
        <p:nvSpPr>
          <p:cNvPr id="155" name="Shape 152"/>
          <p:cNvSpPr/>
          <p:nvPr/>
        </p:nvSpPr>
        <p:spPr>
          <a:xfrm>
            <a:off x="9628632" y="6665976"/>
            <a:ext cx="1024128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9628632" y="6665976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£110,692</a:t>
            </a:r>
            <a:endParaRPr lang="en-US" sz="1300" dirty="0"/>
          </a:p>
        </p:txBody>
      </p:sp>
      <p:sp>
        <p:nvSpPr>
          <p:cNvPr id="157" name="Shape 154"/>
          <p:cNvSpPr/>
          <p:nvPr/>
        </p:nvSpPr>
        <p:spPr>
          <a:xfrm>
            <a:off x="10652760" y="6665976"/>
            <a:ext cx="1024128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10652760" y="6665976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132.1 t</a:t>
            </a:r>
            <a:endParaRPr lang="en-US" sz="1300" dirty="0"/>
          </a:p>
        </p:txBody>
      </p:sp>
      <p:sp>
        <p:nvSpPr>
          <p:cNvPr id="159" name="Shape 156"/>
          <p:cNvSpPr/>
          <p:nvPr/>
        </p:nvSpPr>
        <p:spPr>
          <a:xfrm>
            <a:off x="11676888" y="6665976"/>
            <a:ext cx="1024128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11676888" y="6665976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253.9 t</a:t>
            </a:r>
            <a:endParaRPr lang="en-US" sz="1300" dirty="0"/>
          </a:p>
        </p:txBody>
      </p:sp>
      <p:sp>
        <p:nvSpPr>
          <p:cNvPr id="161" name="Shape 158"/>
          <p:cNvSpPr/>
          <p:nvPr/>
        </p:nvSpPr>
        <p:spPr>
          <a:xfrm>
            <a:off x="12701016" y="6665976"/>
            <a:ext cx="1005840" cy="40233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12701016" y="666597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Year 12</a:t>
            </a:r>
            <a:endParaRPr lang="en-US" sz="1300" dirty="0"/>
          </a:p>
        </p:txBody>
      </p:sp>
      <p:sp>
        <p:nvSpPr>
          <p:cNvPr id="163" name="Shape 160"/>
          <p:cNvSpPr/>
          <p:nvPr/>
        </p:nvSpPr>
        <p:spPr>
          <a:xfrm>
            <a:off x="7296912" y="7159752"/>
            <a:ext cx="6748272" cy="804672"/>
          </a:xfrm>
          <a:prstGeom prst="rect">
            <a:avLst/>
          </a:prstGeom>
          <a:solidFill>
            <a:srgbClr val="FBE9E7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7296912" y="7159752"/>
            <a:ext cx="109728" cy="804672"/>
          </a:xfrm>
          <a:prstGeom prst="rect">
            <a:avLst/>
          </a:prstGeom>
          <a:solidFill>
            <a:srgbClr val="BF360C"/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7461504" y="7232904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F360C"/>
                </a:solidFill>
              </a:rPr>
              <a:t>Asphalt construction CO₂ (195.9 t) = 58% of whole-life total — contradicting temperate-climate use-phase dominance. Tropical overloading creates a construction-dominant emissions profile absent from OECD LCA literature.</a:t>
            </a:r>
            <a:endParaRPr lang="en-US" sz="1300" dirty="0"/>
          </a:p>
        </p:txBody>
      </p:sp>
      <p:pic>
        <p:nvPicPr>
          <p:cNvPr id="166" name="Image 1" descr="/home/claude/fig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8101584"/>
            <a:ext cx="6748272" cy="4114800"/>
          </a:xfrm>
          <a:prstGeom prst="rect">
            <a:avLst/>
          </a:prstGeom>
        </p:spPr>
      </p:pic>
      <p:sp>
        <p:nvSpPr>
          <p:cNvPr id="167" name="Text 163"/>
          <p:cNvSpPr/>
          <p:nvPr/>
        </p:nvSpPr>
        <p:spPr>
          <a:xfrm>
            <a:off x="7296912" y="12216384"/>
            <a:ext cx="6748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Fig. 2: </a:t>
            </a:r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CI vs time. The line staying highest longest is PMA (most durable). The line dropping first is laterite (Yr 8 overlay). Filled markers = overlay events.</a:t>
            </a:r>
            <a:endParaRPr lang="en-US" sz="1200" dirty="0"/>
          </a:p>
        </p:txBody>
      </p:sp>
      <p:sp>
        <p:nvSpPr>
          <p:cNvPr id="168" name="Shape 164"/>
          <p:cNvSpPr/>
          <p:nvPr/>
        </p:nvSpPr>
        <p:spPr>
          <a:xfrm>
            <a:off x="7296912" y="12801600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69" name="Text 165"/>
          <p:cNvSpPr/>
          <p:nvPr/>
        </p:nvSpPr>
        <p:spPr>
          <a:xfrm>
            <a:off x="7296912" y="12801600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6   Sensitivity &amp; Uncertainty Analysis</a:t>
            </a:r>
            <a:endParaRPr lang="en-US" sz="2100" dirty="0"/>
          </a:p>
        </p:txBody>
      </p:sp>
      <p:sp>
        <p:nvSpPr>
          <p:cNvPr id="170" name="Text 166"/>
          <p:cNvSpPr/>
          <p:nvPr/>
        </p:nvSpPr>
        <p:spPr>
          <a:xfrm>
            <a:off x="7296912" y="13222224"/>
            <a:ext cx="6748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05490"/>
                </a:solidFill>
              </a:rPr>
              <a:t>Monte Carlo  (N = 2,000):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C"/>
                </a:solidFill>
              </a:rPr>
              <a:t>CO₂ ranking is stochastically dominant — laterite 95th-pct (88.9 t) &lt; plastic 5th-pct (109.0 t). NPV rankings overlap: laterite median (£89,874) lowest, 95th-pct (£135,945) overlaps other materials.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05490"/>
                </a:solidFill>
              </a:rPr>
              <a:t>Sobol decomposition  (N = 9,216):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C1C1C"/>
                </a:solidFill>
              </a:rPr>
              <a:t>NPV driven by unit cost factor (S_T = 0.65–0.83). Asphalt CO₂: k_climate S₁ = 0.06 but S_T = 0.62 — 91% of variance from interaction. OAT methods systematically understate CO₂ uncertainty.</a:t>
            </a:r>
            <a:endParaRPr lang="en-US" sz="1400" dirty="0"/>
          </a:p>
        </p:txBody>
      </p:sp>
      <p:pic>
        <p:nvPicPr>
          <p:cNvPr id="171" name="Image 2" descr="/home/claude/fig4_so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5873984"/>
            <a:ext cx="6748272" cy="3923414"/>
          </a:xfrm>
          <a:prstGeom prst="rect">
            <a:avLst/>
          </a:prstGeom>
        </p:spPr>
      </p:pic>
      <p:sp>
        <p:nvSpPr>
          <p:cNvPr id="172" name="Text 167"/>
          <p:cNvSpPr/>
          <p:nvPr/>
        </p:nvSpPr>
        <p:spPr>
          <a:xfrm>
            <a:off x="7296912" y="19797398"/>
            <a:ext cx="6748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Fig. 3: </a:t>
            </a:r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Sobol S₁ vs S_T. Look at k_climate for asphalt CO₂: tiny S₁, large S_T — the gap is interaction variance OAT cannot detect.</a:t>
            </a:r>
            <a:endParaRPr lang="en-US" sz="1200" dirty="0"/>
          </a:p>
        </p:txBody>
      </p:sp>
      <p:sp>
        <p:nvSpPr>
          <p:cNvPr id="173" name="Shape 168"/>
          <p:cNvSpPr/>
          <p:nvPr/>
        </p:nvSpPr>
        <p:spPr>
          <a:xfrm>
            <a:off x="7296912" y="20272886"/>
            <a:ext cx="6748272" cy="420624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174" name="Text 169"/>
          <p:cNvSpPr/>
          <p:nvPr/>
        </p:nvSpPr>
        <p:spPr>
          <a:xfrm>
            <a:off x="7296912" y="20272886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   Monte Carlo Distributions  (N = 2,000)</a:t>
            </a:r>
            <a:endParaRPr lang="en-US" sz="2100" dirty="0"/>
          </a:p>
        </p:txBody>
      </p:sp>
      <p:pic>
        <p:nvPicPr>
          <p:cNvPr id="175" name="Image 3" descr="/home/claude/fig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20693510"/>
            <a:ext cx="6748272" cy="3067396"/>
          </a:xfrm>
          <a:prstGeom prst="rect">
            <a:avLst/>
          </a:prstGeom>
        </p:spPr>
      </p:pic>
      <p:sp>
        <p:nvSpPr>
          <p:cNvPr id="176" name="Text 170"/>
          <p:cNvSpPr/>
          <p:nvPr/>
        </p:nvSpPr>
        <p:spPr>
          <a:xfrm>
            <a:off x="7296912" y="23760906"/>
            <a:ext cx="6748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Fig. 4: </a:t>
            </a:r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MC distributions. Laterite CO₂ box sits entirely below the others — stochastic dominance, robust to all parameter draws.</a:t>
            </a:r>
            <a:endParaRPr lang="en-US" sz="1200" dirty="0"/>
          </a:p>
        </p:txBody>
      </p:sp>
      <p:sp>
        <p:nvSpPr>
          <p:cNvPr id="177" name="Shape 171"/>
          <p:cNvSpPr/>
          <p:nvPr/>
        </p:nvSpPr>
        <p:spPr>
          <a:xfrm>
            <a:off x="7296912" y="24282114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78" name="Text 172"/>
          <p:cNvSpPr/>
          <p:nvPr/>
        </p:nvSpPr>
        <p:spPr>
          <a:xfrm>
            <a:off x="7296912" y="24282114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   Key Metrics at a Glance</a:t>
            </a:r>
            <a:endParaRPr lang="en-US" sz="2100" dirty="0"/>
          </a:p>
        </p:txBody>
      </p:sp>
      <p:sp>
        <p:nvSpPr>
          <p:cNvPr id="179" name="Shape 173"/>
          <p:cNvSpPr/>
          <p:nvPr/>
        </p:nvSpPr>
        <p:spPr>
          <a:xfrm>
            <a:off x="7296912" y="24702738"/>
            <a:ext cx="2176272" cy="1691640"/>
          </a:xfrm>
          <a:prstGeom prst="rect">
            <a:avLst/>
          </a:prstGeom>
          <a:solidFill>
            <a:srgbClr val="DBEAFE"/>
          </a:solidFill>
          <a:ln w="19050">
            <a:solidFill>
              <a:srgbClr val="005490"/>
            </a:solidFill>
            <a:prstDash val="solid"/>
          </a:ln>
        </p:spPr>
      </p:sp>
      <p:sp>
        <p:nvSpPr>
          <p:cNvPr id="180" name="Text 174"/>
          <p:cNvSpPr/>
          <p:nvPr/>
        </p:nvSpPr>
        <p:spPr>
          <a:xfrm>
            <a:off x="7296912" y="24812466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490"/>
                </a:solidFill>
              </a:rPr>
              <a:t>1.4–3.8</a:t>
            </a:r>
            <a:endParaRPr lang="en-US" sz="3000" dirty="0"/>
          </a:p>
        </p:txBody>
      </p:sp>
      <p:sp>
        <p:nvSpPr>
          <p:cNvPr id="181" name="Text 175"/>
          <p:cNvSpPr/>
          <p:nvPr/>
        </p:nvSpPr>
        <p:spPr>
          <a:xfrm>
            <a:off x="7296912" y="2548912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yr</a:t>
            </a:r>
            <a:endParaRPr lang="en-US" sz="1600" dirty="0"/>
          </a:p>
        </p:txBody>
      </p:sp>
      <p:sp>
        <p:nvSpPr>
          <p:cNvPr id="182" name="Text 176"/>
          <p:cNvSpPr/>
          <p:nvPr/>
        </p:nvSpPr>
        <p:spPr>
          <a:xfrm>
            <a:off x="7342632" y="2580001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WIM payback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(agency savings only)</a:t>
            </a:r>
            <a:endParaRPr lang="en-US" sz="1300" dirty="0"/>
          </a:p>
        </p:txBody>
      </p:sp>
      <p:sp>
        <p:nvSpPr>
          <p:cNvPr id="183" name="Shape 177"/>
          <p:cNvSpPr/>
          <p:nvPr/>
        </p:nvSpPr>
        <p:spPr>
          <a:xfrm>
            <a:off x="9582912" y="24702738"/>
            <a:ext cx="2176272" cy="1691640"/>
          </a:xfrm>
          <a:prstGeom prst="rect">
            <a:avLst/>
          </a:prstGeom>
          <a:solidFill>
            <a:srgbClr val="DBEAFE"/>
          </a:solidFill>
          <a:ln w="19050">
            <a:solidFill>
              <a:srgbClr val="005490"/>
            </a:solidFill>
            <a:prstDash val="solid"/>
          </a:ln>
        </p:spPr>
      </p:sp>
      <p:sp>
        <p:nvSpPr>
          <p:cNvPr id="184" name="Text 178"/>
          <p:cNvSpPr/>
          <p:nvPr/>
        </p:nvSpPr>
        <p:spPr>
          <a:xfrm>
            <a:off x="9582912" y="24812466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490"/>
                </a:solidFill>
              </a:rPr>
              <a:t>£88,481</a:t>
            </a:r>
            <a:endParaRPr lang="en-US" sz="3000" dirty="0"/>
          </a:p>
        </p:txBody>
      </p:sp>
      <p:sp>
        <p:nvSpPr>
          <p:cNvPr id="185" name="Text 179"/>
          <p:cNvSpPr/>
          <p:nvPr/>
        </p:nvSpPr>
        <p:spPr>
          <a:xfrm>
            <a:off x="9582912" y="2548912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/yr</a:t>
            </a:r>
            <a:endParaRPr lang="en-US" sz="1600" dirty="0"/>
          </a:p>
        </p:txBody>
      </p:sp>
      <p:sp>
        <p:nvSpPr>
          <p:cNvPr id="186" name="Text 180"/>
          <p:cNvSpPr/>
          <p:nvPr/>
        </p:nvSpPr>
        <p:spPr>
          <a:xfrm>
            <a:off x="9628632" y="2580001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Budget-equivalent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benefit of enforcement</a:t>
            </a:r>
            <a:endParaRPr lang="en-US" sz="1300" dirty="0"/>
          </a:p>
        </p:txBody>
      </p:sp>
      <p:sp>
        <p:nvSpPr>
          <p:cNvPr id="187" name="Shape 181"/>
          <p:cNvSpPr/>
          <p:nvPr/>
        </p:nvSpPr>
        <p:spPr>
          <a:xfrm>
            <a:off x="11868912" y="24702738"/>
            <a:ext cx="2176272" cy="169164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188" name="Text 182"/>
          <p:cNvSpPr/>
          <p:nvPr/>
        </p:nvSpPr>
        <p:spPr>
          <a:xfrm>
            <a:off x="11868912" y="24812466"/>
            <a:ext cx="21762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20"/>
                </a:solidFill>
              </a:rPr>
              <a:t>100%</a:t>
            </a:r>
            <a:endParaRPr lang="en-US" sz="3000" dirty="0"/>
          </a:p>
        </p:txBody>
      </p:sp>
      <p:sp>
        <p:nvSpPr>
          <p:cNvPr id="189" name="Text 183"/>
          <p:cNvSpPr/>
          <p:nvPr/>
        </p:nvSpPr>
        <p:spPr>
          <a:xfrm>
            <a:off x="11914632" y="2580001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S6 ranks 1st in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all 10,000 MCDA draws</a:t>
            </a:r>
            <a:endParaRPr lang="en-US" sz="1300" dirty="0"/>
          </a:p>
        </p:txBody>
      </p:sp>
      <p:sp>
        <p:nvSpPr>
          <p:cNvPr id="190" name="Shape 184"/>
          <p:cNvSpPr/>
          <p:nvPr/>
        </p:nvSpPr>
        <p:spPr>
          <a:xfrm>
            <a:off x="7296912" y="26595546"/>
            <a:ext cx="6748272" cy="2194560"/>
          </a:xfrm>
          <a:prstGeom prst="rect">
            <a:avLst/>
          </a:prstGeom>
          <a:solidFill>
            <a:srgbClr val="F8FBFF"/>
          </a:solidFill>
          <a:ln w="12700">
            <a:solidFill>
              <a:srgbClr val="005490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7296912" y="26595546"/>
            <a:ext cx="6748272" cy="365760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92" name="Text 186"/>
          <p:cNvSpPr/>
          <p:nvPr/>
        </p:nvSpPr>
        <p:spPr>
          <a:xfrm>
            <a:off x="7424928" y="26595546"/>
            <a:ext cx="6565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Validation &amp; Limitations</a:t>
            </a:r>
            <a:endParaRPr lang="en-US" sz="1500" dirty="0"/>
          </a:p>
        </p:txBody>
      </p:sp>
      <p:sp>
        <p:nvSpPr>
          <p:cNvPr id="193" name="Text 187"/>
          <p:cNvSpPr/>
          <p:nvPr/>
        </p:nvSpPr>
        <p:spPr>
          <a:xfrm>
            <a:off x="7406640" y="27034458"/>
            <a:ext cx="32369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B5E20"/>
                </a:solidFill>
              </a:rPr>
              <a:t>✓  Validation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PIARC (2022) tropical deterioration curves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SD structure: Ruiz &amp; Guevara (2020)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Sobol convergence at 5% tolerance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LCA boundary aligned with EN 15804</a:t>
            </a:r>
            <a:endParaRPr lang="en-US" sz="1300" dirty="0"/>
          </a:p>
        </p:txBody>
      </p:sp>
      <p:sp>
        <p:nvSpPr>
          <p:cNvPr id="194" name="Text 188"/>
          <p:cNvSpPr/>
          <p:nvPr/>
        </p:nvSpPr>
        <p:spPr>
          <a:xfrm>
            <a:off x="10698480" y="27034458"/>
            <a:ext cx="323697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BF360C"/>
                </a:solidFill>
              </a:rPr>
              <a:t>!  Limitations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Tropical analogue calibration (not Nigerian)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One-way coupling only (no feedback)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Current climate (no IPCC trajectories)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1C1C"/>
                </a:solidFill>
              </a:rPr>
              <a:t>•  Homogeneous network (no spatial variation)</a:t>
            </a:r>
            <a:endParaRPr lang="en-US" sz="1300" dirty="0"/>
          </a:p>
        </p:txBody>
      </p:sp>
      <p:sp>
        <p:nvSpPr>
          <p:cNvPr id="195" name="Shape 189"/>
          <p:cNvSpPr/>
          <p:nvPr/>
        </p:nvSpPr>
        <p:spPr>
          <a:xfrm>
            <a:off x="14246352" y="5056632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196" name="Text 190"/>
          <p:cNvSpPr/>
          <p:nvPr/>
        </p:nvSpPr>
        <p:spPr>
          <a:xfrm>
            <a:off x="14246352" y="5056632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7   Network-Level Results  (100 km, 7 scenarios)</a:t>
            </a:r>
            <a:endParaRPr lang="en-US" sz="2100" dirty="0"/>
          </a:p>
        </p:txBody>
      </p:sp>
      <p:pic>
        <p:nvPicPr>
          <p:cNvPr id="197" name="Image 4" descr="/home/claude/fig4_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6352" y="5477256"/>
            <a:ext cx="6748272" cy="4498848"/>
          </a:xfrm>
          <a:prstGeom prst="rect">
            <a:avLst/>
          </a:prstGeom>
        </p:spPr>
      </p:pic>
      <p:sp>
        <p:nvSpPr>
          <p:cNvPr id="198" name="Text 191"/>
          <p:cNvSpPr/>
          <p:nvPr/>
        </p:nvSpPr>
        <p:spPr>
          <a:xfrm>
            <a:off x="14246352" y="9976104"/>
            <a:ext cx="6748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Fig. 5: </a:t>
            </a:r>
            <a:pPr algn="ctr"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55555"/>
                </a:solidFill>
              </a:rPr>
              <a:t>Network backlog over 20 yr. The top red line is S4 at 19.24 km (Inversion). Three lines overlap in the middle at 17.05 km — those are S0, S1 and S2 (budget non-binding). The bottom purple line is S6 at 10.68 km (combined policy).</a:t>
            </a:r>
            <a:endParaRPr lang="en-US" sz="1200" dirty="0"/>
          </a:p>
        </p:txBody>
      </p:sp>
      <p:sp>
        <p:nvSpPr>
          <p:cNvPr id="199" name="Shape 192"/>
          <p:cNvSpPr/>
          <p:nvPr/>
        </p:nvSpPr>
        <p:spPr>
          <a:xfrm>
            <a:off x="14593824" y="10506456"/>
            <a:ext cx="2084832" cy="320040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200" name="Text 193"/>
          <p:cNvSpPr/>
          <p:nvPr/>
        </p:nvSpPr>
        <p:spPr>
          <a:xfrm>
            <a:off x="14593824" y="10506456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Scenario</a:t>
            </a:r>
            <a:endParaRPr lang="en-US" sz="1300" dirty="0"/>
          </a:p>
        </p:txBody>
      </p:sp>
      <p:sp>
        <p:nvSpPr>
          <p:cNvPr id="201" name="Shape 194"/>
          <p:cNvSpPr/>
          <p:nvPr/>
        </p:nvSpPr>
        <p:spPr>
          <a:xfrm>
            <a:off x="16678656" y="10506456"/>
            <a:ext cx="1353312" cy="320040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202" name="Text 195"/>
          <p:cNvSpPr/>
          <p:nvPr/>
        </p:nvSpPr>
        <p:spPr>
          <a:xfrm>
            <a:off x="16678656" y="10506456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Yr-20 Backlog</a:t>
            </a:r>
            <a:endParaRPr lang="en-US" sz="1300" dirty="0"/>
          </a:p>
        </p:txBody>
      </p:sp>
      <p:sp>
        <p:nvSpPr>
          <p:cNvPr id="203" name="Shape 196"/>
          <p:cNvSpPr/>
          <p:nvPr/>
        </p:nvSpPr>
        <p:spPr>
          <a:xfrm>
            <a:off x="18031968" y="10506456"/>
            <a:ext cx="1261872" cy="320040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204" name="Text 197"/>
          <p:cNvSpPr/>
          <p:nvPr/>
        </p:nvSpPr>
        <p:spPr>
          <a:xfrm>
            <a:off x="18031968" y="10506456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Cum. Cost</a:t>
            </a:r>
            <a:endParaRPr lang="en-US" sz="1300" dirty="0"/>
          </a:p>
        </p:txBody>
      </p:sp>
      <p:sp>
        <p:nvSpPr>
          <p:cNvPr id="205" name="Shape 198"/>
          <p:cNvSpPr/>
          <p:nvPr/>
        </p:nvSpPr>
        <p:spPr>
          <a:xfrm>
            <a:off x="19293840" y="10506456"/>
            <a:ext cx="1353312" cy="320040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206" name="Text 199"/>
          <p:cNvSpPr/>
          <p:nvPr/>
        </p:nvSpPr>
        <p:spPr>
          <a:xfrm>
            <a:off x="19293840" y="10506456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W-L CO₂</a:t>
            </a:r>
            <a:endParaRPr lang="en-US" sz="1300" dirty="0"/>
          </a:p>
        </p:txBody>
      </p:sp>
      <p:sp>
        <p:nvSpPr>
          <p:cNvPr id="207" name="Shape 200"/>
          <p:cNvSpPr/>
          <p:nvPr/>
        </p:nvSpPr>
        <p:spPr>
          <a:xfrm>
            <a:off x="14593824" y="10826496"/>
            <a:ext cx="208483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8" name="Text 201"/>
          <p:cNvSpPr/>
          <p:nvPr/>
        </p:nvSpPr>
        <p:spPr>
          <a:xfrm>
            <a:off x="14593824" y="10826496"/>
            <a:ext cx="20848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S0 Baseline</a:t>
            </a:r>
            <a:endParaRPr lang="en-US" sz="1300" dirty="0"/>
          </a:p>
        </p:txBody>
      </p:sp>
      <p:sp>
        <p:nvSpPr>
          <p:cNvPr id="209" name="Shape 202"/>
          <p:cNvSpPr/>
          <p:nvPr/>
        </p:nvSpPr>
        <p:spPr>
          <a:xfrm>
            <a:off x="16678656" y="10826496"/>
            <a:ext cx="135331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0" name="Text 203"/>
          <p:cNvSpPr/>
          <p:nvPr/>
        </p:nvSpPr>
        <p:spPr>
          <a:xfrm>
            <a:off x="16678656" y="10826496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17.05 km</a:t>
            </a:r>
            <a:endParaRPr lang="en-US" sz="1300" dirty="0"/>
          </a:p>
        </p:txBody>
      </p:sp>
      <p:sp>
        <p:nvSpPr>
          <p:cNvPr id="211" name="Shape 204"/>
          <p:cNvSpPr/>
          <p:nvPr/>
        </p:nvSpPr>
        <p:spPr>
          <a:xfrm>
            <a:off x="18031968" y="10826496"/>
            <a:ext cx="126187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2" name="Text 205"/>
          <p:cNvSpPr/>
          <p:nvPr/>
        </p:nvSpPr>
        <p:spPr>
          <a:xfrm>
            <a:off x="18031968" y="1082649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£6.79M</a:t>
            </a:r>
            <a:endParaRPr lang="en-US" sz="1300" dirty="0"/>
          </a:p>
        </p:txBody>
      </p:sp>
      <p:sp>
        <p:nvSpPr>
          <p:cNvPr id="213" name="Shape 206"/>
          <p:cNvSpPr/>
          <p:nvPr/>
        </p:nvSpPr>
        <p:spPr>
          <a:xfrm>
            <a:off x="19293840" y="10826496"/>
            <a:ext cx="135331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4" name="Text 207"/>
          <p:cNvSpPr/>
          <p:nvPr/>
        </p:nvSpPr>
        <p:spPr>
          <a:xfrm>
            <a:off x="19293840" y="10826496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17,929 t</a:t>
            </a:r>
            <a:endParaRPr lang="en-US" sz="1300" dirty="0"/>
          </a:p>
        </p:txBody>
      </p:sp>
      <p:sp>
        <p:nvSpPr>
          <p:cNvPr id="215" name="Shape 208"/>
          <p:cNvSpPr/>
          <p:nvPr/>
        </p:nvSpPr>
        <p:spPr>
          <a:xfrm>
            <a:off x="14593824" y="11109960"/>
            <a:ext cx="208483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6" name="Text 209"/>
          <p:cNvSpPr/>
          <p:nvPr/>
        </p:nvSpPr>
        <p:spPr>
          <a:xfrm>
            <a:off x="14593824" y="11109960"/>
            <a:ext cx="20848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S1 Low-budget</a:t>
            </a:r>
            <a:endParaRPr lang="en-US" sz="1300" dirty="0"/>
          </a:p>
        </p:txBody>
      </p:sp>
      <p:sp>
        <p:nvSpPr>
          <p:cNvPr id="217" name="Shape 210"/>
          <p:cNvSpPr/>
          <p:nvPr/>
        </p:nvSpPr>
        <p:spPr>
          <a:xfrm>
            <a:off x="16678656" y="11109960"/>
            <a:ext cx="135331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8" name="Text 211"/>
          <p:cNvSpPr/>
          <p:nvPr/>
        </p:nvSpPr>
        <p:spPr>
          <a:xfrm>
            <a:off x="16678656" y="11109960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17.05 km</a:t>
            </a:r>
            <a:endParaRPr lang="en-US" sz="1300" dirty="0"/>
          </a:p>
        </p:txBody>
      </p:sp>
      <p:sp>
        <p:nvSpPr>
          <p:cNvPr id="219" name="Shape 212"/>
          <p:cNvSpPr/>
          <p:nvPr/>
        </p:nvSpPr>
        <p:spPr>
          <a:xfrm>
            <a:off x="18031968" y="11109960"/>
            <a:ext cx="126187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0" name="Text 213"/>
          <p:cNvSpPr/>
          <p:nvPr/>
        </p:nvSpPr>
        <p:spPr>
          <a:xfrm>
            <a:off x="18031968" y="1110996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£6.79M</a:t>
            </a:r>
            <a:endParaRPr lang="en-US" sz="1300" dirty="0"/>
          </a:p>
        </p:txBody>
      </p:sp>
      <p:sp>
        <p:nvSpPr>
          <p:cNvPr id="221" name="Shape 214"/>
          <p:cNvSpPr/>
          <p:nvPr/>
        </p:nvSpPr>
        <p:spPr>
          <a:xfrm>
            <a:off x="19293840" y="11109960"/>
            <a:ext cx="135331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2" name="Text 215"/>
          <p:cNvSpPr/>
          <p:nvPr/>
        </p:nvSpPr>
        <p:spPr>
          <a:xfrm>
            <a:off x="19293840" y="11109960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17,929 t</a:t>
            </a:r>
            <a:endParaRPr lang="en-US" sz="1300" dirty="0"/>
          </a:p>
        </p:txBody>
      </p:sp>
      <p:sp>
        <p:nvSpPr>
          <p:cNvPr id="223" name="Shape 216"/>
          <p:cNvSpPr/>
          <p:nvPr/>
        </p:nvSpPr>
        <p:spPr>
          <a:xfrm>
            <a:off x="14593824" y="11393424"/>
            <a:ext cx="208483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4" name="Text 217"/>
          <p:cNvSpPr/>
          <p:nvPr/>
        </p:nvSpPr>
        <p:spPr>
          <a:xfrm>
            <a:off x="14593824" y="11393424"/>
            <a:ext cx="20848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S2 High-budget</a:t>
            </a:r>
            <a:endParaRPr lang="en-US" sz="1300" dirty="0"/>
          </a:p>
        </p:txBody>
      </p:sp>
      <p:sp>
        <p:nvSpPr>
          <p:cNvPr id="225" name="Shape 218"/>
          <p:cNvSpPr/>
          <p:nvPr/>
        </p:nvSpPr>
        <p:spPr>
          <a:xfrm>
            <a:off x="16678656" y="11393424"/>
            <a:ext cx="135331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6" name="Text 219"/>
          <p:cNvSpPr/>
          <p:nvPr/>
        </p:nvSpPr>
        <p:spPr>
          <a:xfrm>
            <a:off x="16678656" y="11393424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17.05 km</a:t>
            </a:r>
            <a:endParaRPr lang="en-US" sz="1300" dirty="0"/>
          </a:p>
        </p:txBody>
      </p:sp>
      <p:sp>
        <p:nvSpPr>
          <p:cNvPr id="227" name="Shape 220"/>
          <p:cNvSpPr/>
          <p:nvPr/>
        </p:nvSpPr>
        <p:spPr>
          <a:xfrm>
            <a:off x="18031968" y="11393424"/>
            <a:ext cx="126187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8" name="Text 221"/>
          <p:cNvSpPr/>
          <p:nvPr/>
        </p:nvSpPr>
        <p:spPr>
          <a:xfrm>
            <a:off x="18031968" y="1139342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£6.79M</a:t>
            </a:r>
            <a:endParaRPr lang="en-US" sz="1300" dirty="0"/>
          </a:p>
        </p:txBody>
      </p:sp>
      <p:sp>
        <p:nvSpPr>
          <p:cNvPr id="229" name="Shape 222"/>
          <p:cNvSpPr/>
          <p:nvPr/>
        </p:nvSpPr>
        <p:spPr>
          <a:xfrm>
            <a:off x="19293840" y="11393424"/>
            <a:ext cx="1353312" cy="283464"/>
          </a:xfrm>
          <a:prstGeom prst="rect">
            <a:avLst/>
          </a:prstGeom>
          <a:solidFill>
            <a:srgbClr val="DBEA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0" name="Text 223"/>
          <p:cNvSpPr/>
          <p:nvPr/>
        </p:nvSpPr>
        <p:spPr>
          <a:xfrm>
            <a:off x="19293840" y="11393424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17,929 t</a:t>
            </a:r>
            <a:endParaRPr lang="en-US" sz="1300" dirty="0"/>
          </a:p>
        </p:txBody>
      </p:sp>
      <p:sp>
        <p:nvSpPr>
          <p:cNvPr id="231" name="Shape 224"/>
          <p:cNvSpPr/>
          <p:nvPr/>
        </p:nvSpPr>
        <p:spPr>
          <a:xfrm>
            <a:off x="14593824" y="11676888"/>
            <a:ext cx="208483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2" name="Text 225"/>
          <p:cNvSpPr/>
          <p:nvPr/>
        </p:nvSpPr>
        <p:spPr>
          <a:xfrm>
            <a:off x="14593824" y="11676888"/>
            <a:ext cx="20848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S3 Plastic-push</a:t>
            </a:r>
            <a:endParaRPr lang="en-US" sz="1300" dirty="0"/>
          </a:p>
        </p:txBody>
      </p:sp>
      <p:sp>
        <p:nvSpPr>
          <p:cNvPr id="233" name="Shape 226"/>
          <p:cNvSpPr/>
          <p:nvPr/>
        </p:nvSpPr>
        <p:spPr>
          <a:xfrm>
            <a:off x="16678656" y="11676888"/>
            <a:ext cx="13533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4" name="Text 227"/>
          <p:cNvSpPr/>
          <p:nvPr/>
        </p:nvSpPr>
        <p:spPr>
          <a:xfrm>
            <a:off x="16678656" y="11676888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14.45 km</a:t>
            </a:r>
            <a:endParaRPr lang="en-US" sz="1300" dirty="0"/>
          </a:p>
        </p:txBody>
      </p:sp>
      <p:sp>
        <p:nvSpPr>
          <p:cNvPr id="235" name="Shape 228"/>
          <p:cNvSpPr/>
          <p:nvPr/>
        </p:nvSpPr>
        <p:spPr>
          <a:xfrm>
            <a:off x="18031968" y="11676888"/>
            <a:ext cx="12618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6" name="Text 229"/>
          <p:cNvSpPr/>
          <p:nvPr/>
        </p:nvSpPr>
        <p:spPr>
          <a:xfrm>
            <a:off x="18031968" y="11676888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£6.94M</a:t>
            </a:r>
            <a:endParaRPr lang="en-US" sz="1300" dirty="0"/>
          </a:p>
        </p:txBody>
      </p:sp>
      <p:sp>
        <p:nvSpPr>
          <p:cNvPr id="237" name="Shape 230"/>
          <p:cNvSpPr/>
          <p:nvPr/>
        </p:nvSpPr>
        <p:spPr>
          <a:xfrm>
            <a:off x="19293840" y="11676888"/>
            <a:ext cx="13533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8" name="Text 231"/>
          <p:cNvSpPr/>
          <p:nvPr/>
        </p:nvSpPr>
        <p:spPr>
          <a:xfrm>
            <a:off x="19293840" y="11676888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17,179 t</a:t>
            </a:r>
            <a:endParaRPr lang="en-US" sz="1300" dirty="0"/>
          </a:p>
        </p:txBody>
      </p:sp>
      <p:sp>
        <p:nvSpPr>
          <p:cNvPr id="239" name="Shape 232"/>
          <p:cNvSpPr/>
          <p:nvPr/>
        </p:nvSpPr>
        <p:spPr>
          <a:xfrm>
            <a:off x="14593824" y="11960352"/>
            <a:ext cx="2084832" cy="283464"/>
          </a:xfrm>
          <a:prstGeom prst="rect">
            <a:avLst/>
          </a:prstGeom>
          <a:solidFill>
            <a:srgbClr val="FBE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0" name="Text 233"/>
          <p:cNvSpPr/>
          <p:nvPr/>
        </p:nvSpPr>
        <p:spPr>
          <a:xfrm>
            <a:off x="14593824" y="11960352"/>
            <a:ext cx="20848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360C"/>
                </a:solidFill>
              </a:rPr>
              <a:t>S4 Laterite-heavy</a:t>
            </a:r>
            <a:endParaRPr lang="en-US" sz="1300" dirty="0"/>
          </a:p>
        </p:txBody>
      </p:sp>
      <p:sp>
        <p:nvSpPr>
          <p:cNvPr id="241" name="Shape 234"/>
          <p:cNvSpPr/>
          <p:nvPr/>
        </p:nvSpPr>
        <p:spPr>
          <a:xfrm>
            <a:off x="16678656" y="11960352"/>
            <a:ext cx="1353312" cy="283464"/>
          </a:xfrm>
          <a:prstGeom prst="rect">
            <a:avLst/>
          </a:prstGeom>
          <a:solidFill>
            <a:srgbClr val="FBE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2" name="Text 235"/>
          <p:cNvSpPr/>
          <p:nvPr/>
        </p:nvSpPr>
        <p:spPr>
          <a:xfrm>
            <a:off x="16678656" y="11960352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360C"/>
                </a:solidFill>
              </a:rPr>
              <a:t>19.24 km</a:t>
            </a:r>
            <a:endParaRPr lang="en-US" sz="1300" dirty="0"/>
          </a:p>
        </p:txBody>
      </p:sp>
      <p:sp>
        <p:nvSpPr>
          <p:cNvPr id="243" name="Shape 236"/>
          <p:cNvSpPr/>
          <p:nvPr/>
        </p:nvSpPr>
        <p:spPr>
          <a:xfrm>
            <a:off x="18031968" y="11960352"/>
            <a:ext cx="1261872" cy="283464"/>
          </a:xfrm>
          <a:prstGeom prst="rect">
            <a:avLst/>
          </a:prstGeom>
          <a:solidFill>
            <a:srgbClr val="FBE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4" name="Text 237"/>
          <p:cNvSpPr/>
          <p:nvPr/>
        </p:nvSpPr>
        <p:spPr>
          <a:xfrm>
            <a:off x="18031968" y="11960352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360C"/>
                </a:solidFill>
              </a:rPr>
              <a:t>£6.04M</a:t>
            </a:r>
            <a:endParaRPr lang="en-US" sz="1300" dirty="0"/>
          </a:p>
        </p:txBody>
      </p:sp>
      <p:sp>
        <p:nvSpPr>
          <p:cNvPr id="245" name="Shape 238"/>
          <p:cNvSpPr/>
          <p:nvPr/>
        </p:nvSpPr>
        <p:spPr>
          <a:xfrm>
            <a:off x="19293840" y="11960352"/>
            <a:ext cx="1353312" cy="283464"/>
          </a:xfrm>
          <a:prstGeom prst="rect">
            <a:avLst/>
          </a:prstGeom>
          <a:solidFill>
            <a:srgbClr val="FBE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6" name="Text 239"/>
          <p:cNvSpPr/>
          <p:nvPr/>
        </p:nvSpPr>
        <p:spPr>
          <a:xfrm>
            <a:off x="19293840" y="11960352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360C"/>
                </a:solidFill>
              </a:rPr>
              <a:t>16,507 t</a:t>
            </a:r>
            <a:endParaRPr lang="en-US" sz="1300" dirty="0"/>
          </a:p>
        </p:txBody>
      </p:sp>
      <p:sp>
        <p:nvSpPr>
          <p:cNvPr id="247" name="Shape 240"/>
          <p:cNvSpPr/>
          <p:nvPr/>
        </p:nvSpPr>
        <p:spPr>
          <a:xfrm>
            <a:off x="14593824" y="12243816"/>
            <a:ext cx="208483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8" name="Text 241"/>
          <p:cNvSpPr/>
          <p:nvPr/>
        </p:nvSpPr>
        <p:spPr>
          <a:xfrm>
            <a:off x="14593824" y="12243816"/>
            <a:ext cx="20848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S5 Enforcement</a:t>
            </a:r>
            <a:endParaRPr lang="en-US" sz="1300" dirty="0"/>
          </a:p>
        </p:txBody>
      </p:sp>
      <p:sp>
        <p:nvSpPr>
          <p:cNvPr id="249" name="Shape 242"/>
          <p:cNvSpPr/>
          <p:nvPr/>
        </p:nvSpPr>
        <p:spPr>
          <a:xfrm>
            <a:off x="16678656" y="12243816"/>
            <a:ext cx="13533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0" name="Text 243"/>
          <p:cNvSpPr/>
          <p:nvPr/>
        </p:nvSpPr>
        <p:spPr>
          <a:xfrm>
            <a:off x="16678656" y="12243816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12.60 km</a:t>
            </a:r>
            <a:endParaRPr lang="en-US" sz="1300" dirty="0"/>
          </a:p>
        </p:txBody>
      </p:sp>
      <p:sp>
        <p:nvSpPr>
          <p:cNvPr id="251" name="Shape 244"/>
          <p:cNvSpPr/>
          <p:nvPr/>
        </p:nvSpPr>
        <p:spPr>
          <a:xfrm>
            <a:off x="18031968" y="12243816"/>
            <a:ext cx="126187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2" name="Text 245"/>
          <p:cNvSpPr/>
          <p:nvPr/>
        </p:nvSpPr>
        <p:spPr>
          <a:xfrm>
            <a:off x="18031968" y="1224381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£5.09M</a:t>
            </a:r>
            <a:endParaRPr lang="en-US" sz="1300" dirty="0"/>
          </a:p>
        </p:txBody>
      </p:sp>
      <p:sp>
        <p:nvSpPr>
          <p:cNvPr id="253" name="Shape 246"/>
          <p:cNvSpPr/>
          <p:nvPr/>
        </p:nvSpPr>
        <p:spPr>
          <a:xfrm>
            <a:off x="19293840" y="12243816"/>
            <a:ext cx="1353312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4" name="Text 247"/>
          <p:cNvSpPr/>
          <p:nvPr/>
        </p:nvSpPr>
        <p:spPr>
          <a:xfrm>
            <a:off x="19293840" y="12243816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1C1C"/>
                </a:solidFill>
              </a:rPr>
              <a:t>16,855 t</a:t>
            </a:r>
            <a:endParaRPr lang="en-US" sz="1300" dirty="0"/>
          </a:p>
        </p:txBody>
      </p:sp>
      <p:sp>
        <p:nvSpPr>
          <p:cNvPr id="255" name="Shape 248"/>
          <p:cNvSpPr/>
          <p:nvPr/>
        </p:nvSpPr>
        <p:spPr>
          <a:xfrm>
            <a:off x="14593824" y="12527280"/>
            <a:ext cx="2084832" cy="28346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6" name="Text 249"/>
          <p:cNvSpPr/>
          <p:nvPr/>
        </p:nvSpPr>
        <p:spPr>
          <a:xfrm>
            <a:off x="14593824" y="12527280"/>
            <a:ext cx="208483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S6 Combined ★</a:t>
            </a:r>
            <a:endParaRPr lang="en-US" sz="1300" dirty="0"/>
          </a:p>
        </p:txBody>
      </p:sp>
      <p:sp>
        <p:nvSpPr>
          <p:cNvPr id="257" name="Shape 250"/>
          <p:cNvSpPr/>
          <p:nvPr/>
        </p:nvSpPr>
        <p:spPr>
          <a:xfrm>
            <a:off x="16678656" y="12527280"/>
            <a:ext cx="1353312" cy="28346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8" name="Text 251"/>
          <p:cNvSpPr/>
          <p:nvPr/>
        </p:nvSpPr>
        <p:spPr>
          <a:xfrm>
            <a:off x="16678656" y="12527280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10.68 km</a:t>
            </a:r>
            <a:endParaRPr lang="en-US" sz="1300" dirty="0"/>
          </a:p>
        </p:txBody>
      </p:sp>
      <p:sp>
        <p:nvSpPr>
          <p:cNvPr id="259" name="Shape 252"/>
          <p:cNvSpPr/>
          <p:nvPr/>
        </p:nvSpPr>
        <p:spPr>
          <a:xfrm>
            <a:off x="18031968" y="12527280"/>
            <a:ext cx="1261872" cy="28346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0" name="Text 253"/>
          <p:cNvSpPr/>
          <p:nvPr/>
        </p:nvSpPr>
        <p:spPr>
          <a:xfrm>
            <a:off x="18031968" y="1252728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£5.26M</a:t>
            </a:r>
            <a:endParaRPr lang="en-US" sz="1300" dirty="0"/>
          </a:p>
        </p:txBody>
      </p:sp>
      <p:sp>
        <p:nvSpPr>
          <p:cNvPr id="261" name="Shape 254"/>
          <p:cNvSpPr/>
          <p:nvPr/>
        </p:nvSpPr>
        <p:spPr>
          <a:xfrm>
            <a:off x="19293840" y="12527280"/>
            <a:ext cx="1353312" cy="28346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2" name="Text 255"/>
          <p:cNvSpPr/>
          <p:nvPr/>
        </p:nvSpPr>
        <p:spPr>
          <a:xfrm>
            <a:off x="19293840" y="12527280"/>
            <a:ext cx="135331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16,182 t</a:t>
            </a:r>
            <a:endParaRPr lang="en-US" sz="1300" dirty="0"/>
          </a:p>
        </p:txBody>
      </p:sp>
      <p:sp>
        <p:nvSpPr>
          <p:cNvPr id="263" name="Shape 256"/>
          <p:cNvSpPr/>
          <p:nvPr/>
        </p:nvSpPr>
        <p:spPr>
          <a:xfrm>
            <a:off x="14246352" y="12920472"/>
            <a:ext cx="6748272" cy="731520"/>
          </a:xfrm>
          <a:prstGeom prst="rect">
            <a:avLst/>
          </a:prstGeom>
          <a:solidFill>
            <a:srgbClr val="FBE9E7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64" name="Shape 257"/>
          <p:cNvSpPr/>
          <p:nvPr/>
        </p:nvSpPr>
        <p:spPr>
          <a:xfrm>
            <a:off x="14246352" y="12920472"/>
            <a:ext cx="109728" cy="731520"/>
          </a:xfrm>
          <a:prstGeom prst="rect">
            <a:avLst/>
          </a:prstGeom>
          <a:solidFill>
            <a:srgbClr val="BF360C"/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265" name="Text 258"/>
          <p:cNvSpPr/>
          <p:nvPr/>
        </p:nvSpPr>
        <p:spPr>
          <a:xfrm>
            <a:off x="14429232" y="12993624"/>
            <a:ext cx="649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F360C"/>
                </a:solidFill>
              </a:rPr>
              <a:t>Why WIM enforcement is so powerful: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pavement damage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BF360C"/>
                </a:solidFill>
              </a:rPr>
              <a:t>∝  load⁴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  (AASHO Road Test, 1962). A truck at 2× legal load does </a:t>
            </a: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BF360C"/>
                </a:solidFill>
              </a:rPr>
              <a:t>16×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 the damage of a legal one [2].</a:t>
            </a:r>
            <a:endParaRPr lang="en-US" sz="1300" dirty="0"/>
          </a:p>
        </p:txBody>
      </p:sp>
      <p:pic>
        <p:nvPicPr>
          <p:cNvPr id="266" name="Image 5" descr="/home/claude/fig4_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51608" y="13789152"/>
            <a:ext cx="4937760" cy="3712602"/>
          </a:xfrm>
          <a:prstGeom prst="rect">
            <a:avLst/>
          </a:prstGeom>
        </p:spPr>
      </p:pic>
      <p:sp>
        <p:nvSpPr>
          <p:cNvPr id="267" name="Text 259"/>
          <p:cNvSpPr/>
          <p:nvPr/>
        </p:nvSpPr>
        <p:spPr>
          <a:xfrm>
            <a:off x="14246352" y="17501754"/>
            <a:ext cx="6748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55555"/>
                </a:solidFill>
              </a:rPr>
              <a:t>Fig. 6: </a:t>
            </a:r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The single bar reaching 1.0 is S6 — it ranks first in every one of 10,000 Dirichlet weight samples. Other scenarios never rank first under any weighting.</a:t>
            </a:r>
            <a:endParaRPr lang="en-US" sz="1200" dirty="0"/>
          </a:p>
        </p:txBody>
      </p:sp>
      <p:sp>
        <p:nvSpPr>
          <p:cNvPr id="268" name="Shape 260"/>
          <p:cNvSpPr/>
          <p:nvPr/>
        </p:nvSpPr>
        <p:spPr>
          <a:xfrm>
            <a:off x="14246352" y="17958954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269" name="Text 261"/>
          <p:cNvSpPr/>
          <p:nvPr/>
        </p:nvSpPr>
        <p:spPr>
          <a:xfrm>
            <a:off x="14246352" y="17958954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8   Discussion &amp; Conclusions</a:t>
            </a:r>
            <a:endParaRPr lang="en-US" sz="2100" dirty="0"/>
          </a:p>
        </p:txBody>
      </p:sp>
      <p:sp>
        <p:nvSpPr>
          <p:cNvPr id="270" name="Shape 262"/>
          <p:cNvSpPr/>
          <p:nvPr/>
        </p:nvSpPr>
        <p:spPr>
          <a:xfrm>
            <a:off x="14246352" y="18379578"/>
            <a:ext cx="6748272" cy="3017520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71" name="Shape 263"/>
          <p:cNvSpPr/>
          <p:nvPr/>
        </p:nvSpPr>
        <p:spPr>
          <a:xfrm>
            <a:off x="14246352" y="18379578"/>
            <a:ext cx="109728" cy="3017520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72" name="Shape 264"/>
          <p:cNvSpPr/>
          <p:nvPr/>
        </p:nvSpPr>
        <p:spPr>
          <a:xfrm>
            <a:off x="14246352" y="18379578"/>
            <a:ext cx="6748272" cy="384048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73" name="Text 265"/>
          <p:cNvSpPr/>
          <p:nvPr/>
        </p:nvSpPr>
        <p:spPr>
          <a:xfrm>
            <a:off x="14410944" y="18379578"/>
            <a:ext cx="6547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①   The Laterite Inversion — Asset-Optimal ≠ Network-Optimal</a:t>
            </a:r>
            <a:endParaRPr lang="en-US" sz="1600" dirty="0"/>
          </a:p>
        </p:txBody>
      </p:sp>
      <p:sp>
        <p:nvSpPr>
          <p:cNvPr id="274" name="Shape 266"/>
          <p:cNvSpPr/>
          <p:nvPr/>
        </p:nvSpPr>
        <p:spPr>
          <a:xfrm>
            <a:off x="14374368" y="18818490"/>
            <a:ext cx="2359152" cy="2359152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75" name="Shape 267"/>
          <p:cNvSpPr/>
          <p:nvPr/>
        </p:nvSpPr>
        <p:spPr>
          <a:xfrm>
            <a:off x="14374368" y="18818490"/>
            <a:ext cx="2359152" cy="34747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76" name="Text 268"/>
          <p:cNvSpPr/>
          <p:nvPr/>
        </p:nvSpPr>
        <p:spPr>
          <a:xfrm>
            <a:off x="14374368" y="1881849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Asset Scale  (1 km)  ✓</a:t>
            </a:r>
            <a:endParaRPr lang="en-US" sz="1400" dirty="0"/>
          </a:p>
        </p:txBody>
      </p:sp>
      <p:sp>
        <p:nvSpPr>
          <p:cNvPr id="277" name="Text 269"/>
          <p:cNvSpPr/>
          <p:nvPr/>
        </p:nvSpPr>
        <p:spPr>
          <a:xfrm>
            <a:off x="14465808" y="1922082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NPV:</a:t>
            </a:r>
            <a:endParaRPr lang="en-US" sz="1300" dirty="0"/>
          </a:p>
        </p:txBody>
      </p:sp>
      <p:sp>
        <p:nvSpPr>
          <p:cNvPr id="278" name="Text 270"/>
          <p:cNvSpPr/>
          <p:nvPr/>
        </p:nvSpPr>
        <p:spPr>
          <a:xfrm>
            <a:off x="15270480" y="1922082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£79,688</a:t>
            </a:r>
            <a:endParaRPr lang="en-US" sz="1300" dirty="0"/>
          </a:p>
        </p:txBody>
      </p:sp>
      <p:sp>
        <p:nvSpPr>
          <p:cNvPr id="279" name="Text 271"/>
          <p:cNvSpPr/>
          <p:nvPr/>
        </p:nvSpPr>
        <p:spPr>
          <a:xfrm>
            <a:off x="16157448" y="19220826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✓</a:t>
            </a:r>
            <a:endParaRPr lang="en-US" sz="1600" dirty="0"/>
          </a:p>
        </p:txBody>
      </p:sp>
      <p:sp>
        <p:nvSpPr>
          <p:cNvPr id="280" name="Text 272"/>
          <p:cNvSpPr/>
          <p:nvPr/>
        </p:nvSpPr>
        <p:spPr>
          <a:xfrm>
            <a:off x="14465808" y="1955001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WL CO₂:</a:t>
            </a:r>
            <a:endParaRPr lang="en-US" sz="1300" dirty="0"/>
          </a:p>
        </p:txBody>
      </p:sp>
      <p:sp>
        <p:nvSpPr>
          <p:cNvPr id="281" name="Text 273"/>
          <p:cNvSpPr/>
          <p:nvPr/>
        </p:nvSpPr>
        <p:spPr>
          <a:xfrm>
            <a:off x="15270480" y="19550010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236.7 t</a:t>
            </a:r>
            <a:endParaRPr lang="en-US" sz="1300" dirty="0"/>
          </a:p>
        </p:txBody>
      </p:sp>
      <p:sp>
        <p:nvSpPr>
          <p:cNvPr id="282" name="Text 274"/>
          <p:cNvSpPr/>
          <p:nvPr/>
        </p:nvSpPr>
        <p:spPr>
          <a:xfrm>
            <a:off x="16157448" y="19550010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✓</a:t>
            </a:r>
            <a:endParaRPr lang="en-US" sz="1600" dirty="0"/>
          </a:p>
        </p:txBody>
      </p:sp>
      <p:sp>
        <p:nvSpPr>
          <p:cNvPr id="283" name="Text 275"/>
          <p:cNvSpPr/>
          <p:nvPr/>
        </p:nvSpPr>
        <p:spPr>
          <a:xfrm>
            <a:off x="14465808" y="1987919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TTL:</a:t>
            </a:r>
            <a:endParaRPr lang="en-US" sz="1300" dirty="0"/>
          </a:p>
        </p:txBody>
      </p:sp>
      <p:sp>
        <p:nvSpPr>
          <p:cNvPr id="284" name="Text 276"/>
          <p:cNvSpPr/>
          <p:nvPr/>
        </p:nvSpPr>
        <p:spPr>
          <a:xfrm>
            <a:off x="15270480" y="19879194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8 yr</a:t>
            </a:r>
            <a:endParaRPr lang="en-US" sz="1300" dirty="0"/>
          </a:p>
        </p:txBody>
      </p:sp>
      <p:sp>
        <p:nvSpPr>
          <p:cNvPr id="285" name="Text 277"/>
          <p:cNvSpPr/>
          <p:nvPr/>
        </p:nvSpPr>
        <p:spPr>
          <a:xfrm>
            <a:off x="14465808" y="2020837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MC CO₂:</a:t>
            </a:r>
            <a:endParaRPr lang="en-US" sz="1300" dirty="0"/>
          </a:p>
        </p:txBody>
      </p:sp>
      <p:sp>
        <p:nvSpPr>
          <p:cNvPr id="286" name="Text 278"/>
          <p:cNvSpPr/>
          <p:nvPr/>
        </p:nvSpPr>
        <p:spPr>
          <a:xfrm>
            <a:off x="15270480" y="2020837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1st / 3</a:t>
            </a:r>
            <a:endParaRPr lang="en-US" sz="1300" dirty="0"/>
          </a:p>
        </p:txBody>
      </p:sp>
      <p:sp>
        <p:nvSpPr>
          <p:cNvPr id="287" name="Text 279"/>
          <p:cNvSpPr/>
          <p:nvPr/>
        </p:nvSpPr>
        <p:spPr>
          <a:xfrm>
            <a:off x="16157448" y="20208378"/>
            <a:ext cx="530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✓</a:t>
            </a:r>
            <a:endParaRPr lang="en-US" sz="1600" dirty="0"/>
          </a:p>
        </p:txBody>
      </p:sp>
      <p:sp>
        <p:nvSpPr>
          <p:cNvPr id="288" name="Shape 280"/>
          <p:cNvSpPr/>
          <p:nvPr/>
        </p:nvSpPr>
        <p:spPr>
          <a:xfrm>
            <a:off x="14557248" y="20811882"/>
            <a:ext cx="1993392" cy="310896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89" name="Text 281"/>
          <p:cNvSpPr/>
          <p:nvPr/>
        </p:nvSpPr>
        <p:spPr>
          <a:xfrm>
            <a:off x="14557248" y="20811882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BEST</a:t>
            </a:r>
            <a:endParaRPr lang="en-US" sz="1600" dirty="0"/>
          </a:p>
        </p:txBody>
      </p:sp>
      <p:sp>
        <p:nvSpPr>
          <p:cNvPr id="290" name="Text 282"/>
          <p:cNvSpPr/>
          <p:nvPr/>
        </p:nvSpPr>
        <p:spPr>
          <a:xfrm>
            <a:off x="16779240" y="19431138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360C"/>
                </a:solidFill>
              </a:rPr>
              <a:t>TTL = 3.33 yr</a:t>
            </a:r>
            <a:endParaRPr lang="en-US" sz="1500" dirty="0"/>
          </a:p>
        </p:txBody>
      </p:sp>
      <p:sp>
        <p:nvSpPr>
          <p:cNvPr id="291" name="Text 283"/>
          <p:cNvSpPr/>
          <p:nvPr/>
        </p:nvSpPr>
        <p:spPr>
          <a:xfrm>
            <a:off x="16779240" y="19705458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F360C"/>
                </a:solidFill>
              </a:rPr>
              <a:t>(network-scale variance)</a:t>
            </a:r>
            <a:endParaRPr lang="en-US" sz="1000" dirty="0"/>
          </a:p>
        </p:txBody>
      </p:sp>
      <p:sp>
        <p:nvSpPr>
          <p:cNvPr id="292" name="Shape 284"/>
          <p:cNvSpPr/>
          <p:nvPr/>
        </p:nvSpPr>
        <p:spPr>
          <a:xfrm>
            <a:off x="16870680" y="19952346"/>
            <a:ext cx="1517904" cy="91440"/>
          </a:xfrm>
          <a:prstGeom prst="rect">
            <a:avLst/>
          </a:prstGeom>
          <a:solidFill>
            <a:srgbClr val="BF360C"/>
          </a:solidFill>
          <a:ln w="6350">
            <a:solidFill>
              <a:srgbClr val="BF360C"/>
            </a:solidFill>
            <a:prstDash val="solid"/>
          </a:ln>
        </p:spPr>
      </p:sp>
      <p:sp>
        <p:nvSpPr>
          <p:cNvPr id="293" name="Text 285"/>
          <p:cNvSpPr/>
          <p:nvPr/>
        </p:nvSpPr>
        <p:spPr>
          <a:xfrm>
            <a:off x="18214848" y="19796898"/>
            <a:ext cx="310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360C"/>
                </a:solidFill>
              </a:rPr>
              <a:t>►</a:t>
            </a:r>
            <a:endParaRPr lang="en-US" sz="2200" dirty="0"/>
          </a:p>
        </p:txBody>
      </p:sp>
      <p:sp>
        <p:nvSpPr>
          <p:cNvPr id="294" name="Text 286"/>
          <p:cNvSpPr/>
          <p:nvPr/>
        </p:nvSpPr>
        <p:spPr>
          <a:xfrm>
            <a:off x="16779240" y="2012608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360C"/>
                </a:solidFill>
              </a:rPr>
              <a:t>overwhelms</a:t>
            </a:r>
            <a:endParaRPr lang="en-US" sz="1300" dirty="0"/>
          </a:p>
        </p:txBody>
      </p:sp>
      <p:sp>
        <p:nvSpPr>
          <p:cNvPr id="295" name="Text 287"/>
          <p:cNvSpPr/>
          <p:nvPr/>
        </p:nvSpPr>
        <p:spPr>
          <a:xfrm>
            <a:off x="16779240" y="20382114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360C"/>
                </a:solidFill>
              </a:rPr>
              <a:t>rehab queue</a:t>
            </a:r>
            <a:endParaRPr lang="en-US" sz="1300" dirty="0"/>
          </a:p>
        </p:txBody>
      </p:sp>
      <p:sp>
        <p:nvSpPr>
          <p:cNvPr id="296" name="Shape 288"/>
          <p:cNvSpPr/>
          <p:nvPr/>
        </p:nvSpPr>
        <p:spPr>
          <a:xfrm>
            <a:off x="18525744" y="18818490"/>
            <a:ext cx="2359152" cy="2359152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97" name="Shape 289"/>
          <p:cNvSpPr/>
          <p:nvPr/>
        </p:nvSpPr>
        <p:spPr>
          <a:xfrm>
            <a:off x="18525744" y="18818490"/>
            <a:ext cx="2359152" cy="347472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98" name="Text 290"/>
          <p:cNvSpPr/>
          <p:nvPr/>
        </p:nvSpPr>
        <p:spPr>
          <a:xfrm>
            <a:off x="18525744" y="1881849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 Scale  (100 km)  ✗</a:t>
            </a:r>
            <a:endParaRPr lang="en-US" sz="1400" dirty="0"/>
          </a:p>
        </p:txBody>
      </p:sp>
      <p:sp>
        <p:nvSpPr>
          <p:cNvPr id="299" name="Text 291"/>
          <p:cNvSpPr/>
          <p:nvPr/>
        </p:nvSpPr>
        <p:spPr>
          <a:xfrm>
            <a:off x="18617184" y="1922082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Yr-20 backlog:</a:t>
            </a:r>
            <a:endParaRPr lang="en-US" sz="1300" dirty="0"/>
          </a:p>
        </p:txBody>
      </p:sp>
      <p:sp>
        <p:nvSpPr>
          <p:cNvPr id="300" name="Text 292"/>
          <p:cNvSpPr/>
          <p:nvPr/>
        </p:nvSpPr>
        <p:spPr>
          <a:xfrm>
            <a:off x="19559016" y="1922082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19.24 km</a:t>
            </a:r>
            <a:endParaRPr lang="en-US" sz="1300" dirty="0"/>
          </a:p>
        </p:txBody>
      </p:sp>
      <p:sp>
        <p:nvSpPr>
          <p:cNvPr id="301" name="Text 293"/>
          <p:cNvSpPr/>
          <p:nvPr/>
        </p:nvSpPr>
        <p:spPr>
          <a:xfrm>
            <a:off x="20445984" y="19220826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1C1C"/>
                </a:solidFill>
              </a:rPr>
              <a:t>✗</a:t>
            </a:r>
            <a:endParaRPr lang="en-US" sz="1600" dirty="0"/>
          </a:p>
        </p:txBody>
      </p:sp>
      <p:sp>
        <p:nvSpPr>
          <p:cNvPr id="302" name="Text 294"/>
          <p:cNvSpPr/>
          <p:nvPr/>
        </p:nvSpPr>
        <p:spPr>
          <a:xfrm>
            <a:off x="18617184" y="1955001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vs S0:</a:t>
            </a:r>
            <a:endParaRPr lang="en-US" sz="1300" dirty="0"/>
          </a:p>
        </p:txBody>
      </p:sp>
      <p:sp>
        <p:nvSpPr>
          <p:cNvPr id="303" name="Text 295"/>
          <p:cNvSpPr/>
          <p:nvPr/>
        </p:nvSpPr>
        <p:spPr>
          <a:xfrm>
            <a:off x="19559016" y="19550010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+13%</a:t>
            </a:r>
            <a:endParaRPr lang="en-US" sz="1300" dirty="0"/>
          </a:p>
        </p:txBody>
      </p:sp>
      <p:sp>
        <p:nvSpPr>
          <p:cNvPr id="304" name="Text 296"/>
          <p:cNvSpPr/>
          <p:nvPr/>
        </p:nvSpPr>
        <p:spPr>
          <a:xfrm>
            <a:off x="20445984" y="19550010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1C1C"/>
                </a:solidFill>
              </a:rPr>
              <a:t>✗</a:t>
            </a:r>
            <a:endParaRPr lang="en-US" sz="1600" dirty="0"/>
          </a:p>
        </p:txBody>
      </p:sp>
      <p:sp>
        <p:nvSpPr>
          <p:cNvPr id="305" name="Text 297"/>
          <p:cNvSpPr/>
          <p:nvPr/>
        </p:nvSpPr>
        <p:spPr>
          <a:xfrm>
            <a:off x="18617184" y="1987919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MCDA rank:</a:t>
            </a:r>
            <a:endParaRPr lang="en-US" sz="1300" dirty="0"/>
          </a:p>
        </p:txBody>
      </p:sp>
      <p:sp>
        <p:nvSpPr>
          <p:cNvPr id="306" name="Text 298"/>
          <p:cNvSpPr/>
          <p:nvPr/>
        </p:nvSpPr>
        <p:spPr>
          <a:xfrm>
            <a:off x="19559016" y="19879194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5th / 7</a:t>
            </a:r>
            <a:endParaRPr lang="en-US" sz="1300" dirty="0"/>
          </a:p>
        </p:txBody>
      </p:sp>
      <p:sp>
        <p:nvSpPr>
          <p:cNvPr id="307" name="Text 299"/>
          <p:cNvSpPr/>
          <p:nvPr/>
        </p:nvSpPr>
        <p:spPr>
          <a:xfrm>
            <a:off x="20445984" y="19879194"/>
            <a:ext cx="402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1C1C"/>
                </a:solidFill>
              </a:rPr>
              <a:t>✗</a:t>
            </a:r>
            <a:endParaRPr lang="en-US" sz="1600" dirty="0"/>
          </a:p>
        </p:txBody>
      </p:sp>
      <p:sp>
        <p:nvSpPr>
          <p:cNvPr id="308" name="Text 300"/>
          <p:cNvSpPr/>
          <p:nvPr/>
        </p:nvSpPr>
        <p:spPr>
          <a:xfrm>
            <a:off x="18617184" y="2020837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</a:rPr>
              <a:t>cum. cost:</a:t>
            </a:r>
            <a:endParaRPr lang="en-US" sz="1300" dirty="0"/>
          </a:p>
        </p:txBody>
      </p:sp>
      <p:sp>
        <p:nvSpPr>
          <p:cNvPr id="309" name="Text 301"/>
          <p:cNvSpPr/>
          <p:nvPr/>
        </p:nvSpPr>
        <p:spPr>
          <a:xfrm>
            <a:off x="19559016" y="2020837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£6.04M</a:t>
            </a:r>
            <a:endParaRPr lang="en-US" sz="1300" dirty="0"/>
          </a:p>
        </p:txBody>
      </p:sp>
      <p:sp>
        <p:nvSpPr>
          <p:cNvPr id="310" name="Shape 302"/>
          <p:cNvSpPr/>
          <p:nvPr/>
        </p:nvSpPr>
        <p:spPr>
          <a:xfrm>
            <a:off x="18708624" y="20811882"/>
            <a:ext cx="1993392" cy="310896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311" name="Text 303"/>
          <p:cNvSpPr/>
          <p:nvPr/>
        </p:nvSpPr>
        <p:spPr>
          <a:xfrm>
            <a:off x="18708624" y="20811882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WORST</a:t>
            </a:r>
            <a:endParaRPr lang="en-US" sz="1600" dirty="0"/>
          </a:p>
        </p:txBody>
      </p:sp>
      <p:sp>
        <p:nvSpPr>
          <p:cNvPr id="312" name="Text 304"/>
          <p:cNvSpPr/>
          <p:nvPr/>
        </p:nvSpPr>
        <p:spPr>
          <a:xfrm>
            <a:off x="14410944" y="21195930"/>
            <a:ext cx="65288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1C1C"/>
                </a:solidFill>
              </a:rPr>
              <a:t>Hidden from conventional single-scale LCA — requires digital-twin coupling to detect</a:t>
            </a:r>
            <a:endParaRPr lang="en-US" sz="1200" dirty="0"/>
          </a:p>
        </p:txBody>
      </p:sp>
      <p:sp>
        <p:nvSpPr>
          <p:cNvPr id="313" name="Shape 305"/>
          <p:cNvSpPr/>
          <p:nvPr/>
        </p:nvSpPr>
        <p:spPr>
          <a:xfrm>
            <a:off x="14246352" y="21488538"/>
            <a:ext cx="6748272" cy="1325880"/>
          </a:xfrm>
          <a:prstGeom prst="rect">
            <a:avLst/>
          </a:prstGeom>
          <a:solidFill>
            <a:srgbClr val="EFF6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14" name="Shape 306"/>
          <p:cNvSpPr/>
          <p:nvPr/>
        </p:nvSpPr>
        <p:spPr>
          <a:xfrm>
            <a:off x="14246352" y="21488538"/>
            <a:ext cx="109728" cy="1325880"/>
          </a:xfrm>
          <a:prstGeom prst="rect">
            <a:avLst/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15" name="Text 307"/>
          <p:cNvSpPr/>
          <p:nvPr/>
        </p:nvSpPr>
        <p:spPr>
          <a:xfrm>
            <a:off x="14447520" y="21561690"/>
            <a:ext cx="6492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65C0"/>
                </a:solidFill>
              </a:rPr>
              <a:t>②  Budget Non-Binding</a:t>
            </a:r>
            <a:endParaRPr lang="en-US" sz="1700" dirty="0"/>
          </a:p>
        </p:txBody>
      </p:sp>
      <p:sp>
        <p:nvSpPr>
          <p:cNvPr id="316" name="Text 308"/>
          <p:cNvSpPr/>
          <p:nvPr/>
        </p:nvSpPr>
        <p:spPr>
          <a:xfrm>
            <a:off x="14447520" y="21909162"/>
            <a:ext cx="645566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Binding constraint on Nigerian network performance is deterioration rate, not budget. S0 = S1 = S2 identically. Policy should redirect resources to enforcement, not more rehabilitation contracts.</a:t>
            </a:r>
            <a:endParaRPr lang="en-US" sz="1300" dirty="0"/>
          </a:p>
        </p:txBody>
      </p:sp>
      <p:sp>
        <p:nvSpPr>
          <p:cNvPr id="317" name="Shape 309"/>
          <p:cNvSpPr/>
          <p:nvPr/>
        </p:nvSpPr>
        <p:spPr>
          <a:xfrm>
            <a:off x="14246352" y="22887570"/>
            <a:ext cx="6748272" cy="132588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18" name="Shape 310"/>
          <p:cNvSpPr/>
          <p:nvPr/>
        </p:nvSpPr>
        <p:spPr>
          <a:xfrm>
            <a:off x="14246352" y="22887570"/>
            <a:ext cx="109728" cy="1325880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319" name="Text 311"/>
          <p:cNvSpPr/>
          <p:nvPr/>
        </p:nvSpPr>
        <p:spPr>
          <a:xfrm>
            <a:off x="14447520" y="22960722"/>
            <a:ext cx="6492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95C"/>
                </a:solidFill>
              </a:rPr>
              <a:t>③  Multiplicative CO₂ Uncertainty</a:t>
            </a:r>
            <a:endParaRPr lang="en-US" sz="1700" dirty="0"/>
          </a:p>
        </p:txBody>
      </p:sp>
      <p:sp>
        <p:nvSpPr>
          <p:cNvPr id="320" name="Text 312"/>
          <p:cNvSpPr/>
          <p:nvPr/>
        </p:nvSpPr>
        <p:spPr>
          <a:xfrm>
            <a:off x="14447520" y="23308194"/>
            <a:ext cx="6455664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C1C1C"/>
                </a:solidFill>
              </a:rPr>
              <a:t>Climate and overload factors interact multiplicatively. OAT methods miss 91% of asphalt CO₂ variance. Sobol decomposition is necessary for carbon-critical infrastructure assessment in tropical contexts.</a:t>
            </a:r>
            <a:endParaRPr lang="en-US" sz="1300" dirty="0"/>
          </a:p>
        </p:txBody>
      </p:sp>
      <p:sp>
        <p:nvSpPr>
          <p:cNvPr id="321" name="Shape 313"/>
          <p:cNvSpPr/>
          <p:nvPr/>
        </p:nvSpPr>
        <p:spPr>
          <a:xfrm>
            <a:off x="14246352" y="24350610"/>
            <a:ext cx="6748272" cy="420624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322" name="Text 314"/>
          <p:cNvSpPr/>
          <p:nvPr/>
        </p:nvSpPr>
        <p:spPr>
          <a:xfrm>
            <a:off x="14246352" y="24350610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9   Policy Recommendations</a:t>
            </a:r>
            <a:endParaRPr lang="en-US" sz="2100" dirty="0"/>
          </a:p>
        </p:txBody>
      </p:sp>
      <p:sp>
        <p:nvSpPr>
          <p:cNvPr id="323" name="Shape 315"/>
          <p:cNvSpPr/>
          <p:nvPr/>
        </p:nvSpPr>
        <p:spPr>
          <a:xfrm>
            <a:off x="14246352" y="24771234"/>
            <a:ext cx="6748272" cy="950976"/>
          </a:xfrm>
          <a:prstGeom prst="rect">
            <a:avLst/>
          </a:prstGeom>
          <a:solidFill>
            <a:srgbClr val="F7F9FC"/>
          </a:solidFill>
          <a:ln w="19050">
            <a:solidFill>
              <a:srgbClr val="005490"/>
            </a:solidFill>
            <a:prstDash val="solid"/>
          </a:ln>
        </p:spPr>
      </p:sp>
      <p:sp>
        <p:nvSpPr>
          <p:cNvPr id="324" name="Shape 316"/>
          <p:cNvSpPr/>
          <p:nvPr/>
        </p:nvSpPr>
        <p:spPr>
          <a:xfrm>
            <a:off x="14246352" y="24771234"/>
            <a:ext cx="1261872" cy="950976"/>
          </a:xfrm>
          <a:prstGeom prst="rect">
            <a:avLst/>
          </a:prstGeom>
          <a:solidFill>
            <a:srgbClr val="005490"/>
          </a:solidFill>
          <a:ln w="6350">
            <a:solidFill>
              <a:srgbClr val="005490"/>
            </a:solidFill>
            <a:prstDash val="solid"/>
          </a:ln>
        </p:spPr>
      </p:sp>
      <p:sp>
        <p:nvSpPr>
          <p:cNvPr id="325" name="Text 317"/>
          <p:cNvSpPr/>
          <p:nvPr/>
        </p:nvSpPr>
        <p:spPr>
          <a:xfrm>
            <a:off x="14246352" y="24771234"/>
            <a:ext cx="126187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Immediate</a:t>
            </a:r>
            <a:endParaRPr lang="en-US" sz="1500" dirty="0"/>
          </a:p>
        </p:txBody>
      </p:sp>
      <p:sp>
        <p:nvSpPr>
          <p:cNvPr id="326" name="Text 318"/>
          <p:cNvSpPr/>
          <p:nvPr/>
        </p:nvSpPr>
        <p:spPr>
          <a:xfrm>
            <a:off x="15581376" y="24816954"/>
            <a:ext cx="53766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C1C"/>
                </a:solidFill>
              </a:rPr>
              <a:t>Install WIM axle-load enforcement. Capital cost £120k–320k; payback 1.4–3.8 yr from agency savings alone [2]. Budget-equivalent benefit: £88,481/yr per 100 km.</a:t>
            </a:r>
            <a:endParaRPr lang="en-US" sz="1200" dirty="0"/>
          </a:p>
        </p:txBody>
      </p:sp>
      <p:sp>
        <p:nvSpPr>
          <p:cNvPr id="327" name="Shape 319"/>
          <p:cNvSpPr/>
          <p:nvPr/>
        </p:nvSpPr>
        <p:spPr>
          <a:xfrm>
            <a:off x="14246352" y="25786218"/>
            <a:ext cx="6748272" cy="950976"/>
          </a:xfrm>
          <a:prstGeom prst="rect">
            <a:avLst/>
          </a:prstGeom>
          <a:solidFill>
            <a:srgbClr val="F7F9FC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28" name="Shape 320"/>
          <p:cNvSpPr/>
          <p:nvPr/>
        </p:nvSpPr>
        <p:spPr>
          <a:xfrm>
            <a:off x="14246352" y="25786218"/>
            <a:ext cx="1261872" cy="950976"/>
          </a:xfrm>
          <a:prstGeom prst="rect">
            <a:avLst/>
          </a:prstGeom>
          <a:solidFill>
            <a:srgbClr val="1565C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29" name="Text 321"/>
          <p:cNvSpPr/>
          <p:nvPr/>
        </p:nvSpPr>
        <p:spPr>
          <a:xfrm>
            <a:off x="14246352" y="25786218"/>
            <a:ext cx="126187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Conditional</a:t>
            </a:r>
            <a:endParaRPr lang="en-US" sz="1500" dirty="0"/>
          </a:p>
        </p:txBody>
      </p:sp>
      <p:sp>
        <p:nvSpPr>
          <p:cNvPr id="330" name="Text 322"/>
          <p:cNvSpPr/>
          <p:nvPr/>
        </p:nvSpPr>
        <p:spPr>
          <a:xfrm>
            <a:off x="15581376" y="25831938"/>
            <a:ext cx="53766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C1C"/>
                </a:solidFill>
              </a:rPr>
              <a:t>Expand laterite only where corridor TTL evidence ≥ 5 yr. Survey justified at P(TTL≥5yr) = 40% (EVPI = £78/km). Wrong-decision cost: £437/km.</a:t>
            </a:r>
            <a:endParaRPr lang="en-US" sz="1200" dirty="0"/>
          </a:p>
        </p:txBody>
      </p:sp>
      <p:sp>
        <p:nvSpPr>
          <p:cNvPr id="331" name="Shape 323"/>
          <p:cNvSpPr/>
          <p:nvPr/>
        </p:nvSpPr>
        <p:spPr>
          <a:xfrm>
            <a:off x="14246352" y="26801202"/>
            <a:ext cx="6748272" cy="950976"/>
          </a:xfrm>
          <a:prstGeom prst="rect">
            <a:avLst/>
          </a:prstGeom>
          <a:solidFill>
            <a:srgbClr val="F7F9FC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32" name="Shape 324"/>
          <p:cNvSpPr/>
          <p:nvPr/>
        </p:nvSpPr>
        <p:spPr>
          <a:xfrm>
            <a:off x="14246352" y="26801202"/>
            <a:ext cx="1261872" cy="950976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333" name="Text 325"/>
          <p:cNvSpPr/>
          <p:nvPr/>
        </p:nvSpPr>
        <p:spPr>
          <a:xfrm>
            <a:off x="14246352" y="26801202"/>
            <a:ext cx="126187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Strategic</a:t>
            </a:r>
            <a:endParaRPr lang="en-US" sz="1500" dirty="0"/>
          </a:p>
        </p:txBody>
      </p:sp>
      <p:sp>
        <p:nvSpPr>
          <p:cNvPr id="334" name="Text 326"/>
          <p:cNvSpPr/>
          <p:nvPr/>
        </p:nvSpPr>
        <p:spPr>
          <a:xfrm>
            <a:off x="15581376" y="26846922"/>
            <a:ext cx="53766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C1C"/>
                </a:solidFill>
              </a:rPr>
              <a:t>Adopt PMA where CO₂ reduction has policy value. Advantage over asphalt doubles by Year 25 and is robust to all Monte Carlo draws.</a:t>
            </a:r>
            <a:endParaRPr lang="en-US" sz="1200" dirty="0"/>
          </a:p>
        </p:txBody>
      </p:sp>
      <p:sp>
        <p:nvSpPr>
          <p:cNvPr id="335" name="Shape 327"/>
          <p:cNvSpPr/>
          <p:nvPr/>
        </p:nvSpPr>
        <p:spPr>
          <a:xfrm>
            <a:off x="14246352" y="27907626"/>
            <a:ext cx="6748272" cy="420624"/>
          </a:xfrm>
          <a:prstGeom prst="rect">
            <a:avLst/>
          </a:prstGeom>
          <a:solidFill>
            <a:srgbClr val="00695C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336" name="Text 328"/>
          <p:cNvSpPr/>
          <p:nvPr/>
        </p:nvSpPr>
        <p:spPr>
          <a:xfrm>
            <a:off x="14246352" y="27907626"/>
            <a:ext cx="6748272" cy="420624"/>
          </a:xfrm>
          <a:prstGeom prst="rect">
            <a:avLst/>
          </a:prstGeom>
          <a:noFill/>
          <a:ln/>
        </p:spPr>
        <p:txBody>
          <a:bodyPr wrap="square" lIns="0" tIns="1778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10  Future Work</a:t>
            </a:r>
            <a:endParaRPr lang="en-US" sz="2100" dirty="0"/>
          </a:p>
        </p:txBody>
      </p:sp>
      <p:sp>
        <p:nvSpPr>
          <p:cNvPr id="337" name="Text 329"/>
          <p:cNvSpPr/>
          <p:nvPr/>
        </p:nvSpPr>
        <p:spPr>
          <a:xfrm>
            <a:off x="14246352" y="28328250"/>
            <a:ext cx="67482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In-situ TTL measurement (FERMA partnership) to resolve laterite inversion (EVPI = £78/km)</a:t>
            </a:r>
            <a:endParaRPr lang="en-US" sz="13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Regional disaggregation: PMA in humid south, polymer-asphalt in arid north, laterite for rural</a:t>
            </a:r>
            <a:endParaRPr lang="en-US" sz="13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Two-way coupling (condition → user costs → GDP) + IPCC climate trajectories</a:t>
            </a:r>
            <a:endParaRPr lang="en-US" sz="1300" dirty="0"/>
          </a:p>
        </p:txBody>
      </p:sp>
      <p:sp>
        <p:nvSpPr>
          <p:cNvPr id="338" name="Shape 330"/>
          <p:cNvSpPr/>
          <p:nvPr/>
        </p:nvSpPr>
        <p:spPr>
          <a:xfrm>
            <a:off x="347472" y="29215080"/>
            <a:ext cx="20692872" cy="71323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39" name="Shape 331"/>
          <p:cNvSpPr/>
          <p:nvPr/>
        </p:nvSpPr>
        <p:spPr>
          <a:xfrm>
            <a:off x="347472" y="29215080"/>
            <a:ext cx="1645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0" name="Shape 332"/>
          <p:cNvSpPr/>
          <p:nvPr/>
        </p:nvSpPr>
        <p:spPr>
          <a:xfrm>
            <a:off x="20875752" y="29215080"/>
            <a:ext cx="1645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1" name="Text 333"/>
          <p:cNvSpPr/>
          <p:nvPr/>
        </p:nvSpPr>
        <p:spPr>
          <a:xfrm>
            <a:off x="640080" y="29215080"/>
            <a:ext cx="201076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RECOMMENDED ACTION  — 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S6 Combined Policy: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8E6C9"/>
                </a:solidFill>
              </a:rPr>
              <a:t>WIM axle-load enforcement + 40% PMA / 40% asphalt / 20% laterite mix.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−37% Yr-20 backlog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8E6C9"/>
                </a:solidFill>
              </a:rPr>
              <a:t>·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payback 1.4–3.8 yr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8E6C9"/>
                </a:solidFill>
              </a:rPr>
              <a:t>·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ranks 1st in 100% of MCDA draws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2026-06-02T12:26:04Z</dcterms:created>
  <dcterms:modified xsi:type="dcterms:W3CDTF">2026-06-02T12:26:04Z</dcterms:modified>
</cp:coreProperties>
</file>